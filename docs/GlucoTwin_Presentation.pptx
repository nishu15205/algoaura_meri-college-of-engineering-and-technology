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Open with the wedge: doctors react to spikes after they happen; we predict them 2 hours ahead.
- GlucoTwin = a virtual replica of the patient that forecasts glucose spikes.
- One-line pitch: predict, then rehearse the fix.
- Team AlgoAura from MERI College of Engineering and Technology, Happiest Health Digital Twin Challenge 2026.
- Disclaimer upfront: research prototype, synthetic data, not medical advice.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India leads the world in diabetes — 101M diagnosed, 136M prediabetic (ICMR INDIAB 2023).
- 70%+ of cases are Type-2, the lifestyle-driven form we can model.
- Post-meal spikes drive retinopathy, nephropathy, neuropathy, CVD.
- Today's care is reactive — doctors treat spikes after they happen.
- Our wedge: predict the spike 2 hours ahead, then rehearse the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twin = a virtual replica of the patient, not just a predictor.
- Pillar 1: fuse static EHR + dynamic wearables into one feature set.
- Pillar 2: predict a &gt;180 mg/dL spike in the next 2 hours (GBDT ROC-AUC 0.981).
- Pillar 3: simulate the intervention — change the inputs, see the trajectory move.
- These three pillars set up the architecture story on the next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Five-step pipeline from raw signals to a 2-hour forecast.
- Step 1: 200 synthetic patients with 14-day 5-min CGM + wearables (fixed seed).
- Step 2: 33 fused features combining 6-hour CGM dynamics + static EHR.
- Step 3: train logistic regression + GBDT with patient-wise split (no leakage).
- Steps 4–5: prediction + SHAP reasons + a clinician dashboard with what-if + live replay.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Synthetic data is a challenge mandate — using real data would violate DPDP.
- 200 patients × 14 days × 5-min = ~806K samples, plenty for ML.
- Fixed seed (20260117) makes everything reproducible.
- Physiological model includes meal absorption, dawn phenomenon, exercise, sleep, sensor noise.
- Correlated EHR fields (BMI↔HbA1c, eGFR by sex) make the cohort look real, not random.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twin fuses a slow-changing static EHR with fast-changing wearable signals.
- Static: age, BMI, HbA1c, genetics, eGFR — patient profile.
- Dynamic: 6-hour CGM dynamics, meal context, HR/HRV/sleep/steps.
- Total: 33 engineered features per prediction window.
- Patient-wise 70/15/15 split prevents leakage — that's why our metrics are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GBDT built from scratch in TypeScript — no sklearn, no xgboost.
- 80 trees, depth 4, histogram splits, Newton leaf updates, log loss.
- GBDT beats LR on ROC-AUC (0.981 vs 0.948), F1 (0.940 vs 0.855), precision.
- 75-min average lead time is the headline clinical number.
- Saabas tree-interpreter gives per-prediction SHAP-style explanations.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One screen per patient — four bento tiles cover the full picture.
- Tile 1: CGM history + 2-hour forecast with 180 mg/dL threshold and confidence band.
- Tile 2: risk gauge (spike probability %) + top SHAP factors (current glucose, RoC, last meal).
- Tile 3: EHR profile + HR/HRV/steps/sleep mini-charts.
- Tile 4: 24-hour alert timeline + SSE live replay for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twin is also a rehearsal tool — not just a predictor.
- Four knobs the doctor can turn: meal carbs, walking minutes, sleep hours, medication.
- The simulator runs a physiological model and returns baseline vs simulated curve + risk delta.
- Clinician stays in control — this is decision support, not automated decision-making.
- Always labeled as preview only, never a treatment recommendation.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Three concrete shifts GlucoTwin enables — reactive → proactive, one-size → personal, lab → wearable.
- 75-minute lead time is the headline number — patients can act before the spike.
- What-if enables per-patient tuning of diet/exercise/medication.
- Wearable-first means it works in tier-2/3 India without lab access.
- Proactive · Personal · Scalable — the three-word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Be honest: this is a research prototype on synthetic data — not clinically validated.
- The simulator is a simplified physiological model, not a validated kinetics engine.
- SHAP reasons are Saabas tree-interpreter approximations, not exact SHAP.
- Future: real anonymized data (MIMIC-IV / Synthea), LSTM sequence model, insulin-bolus simulation.
- Long-term vision: multi-condition twins (hypertension, CVD) on one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Thank you — close with the one-line pitch: predict glucose spikes 2 hours ahead, rehearse the fix.
- Recap: 200 synthetic patients, 33 features, GBDT ROC-AUC 0.981, 75-min lead time.
- Invite questions from the judges.
- Point to the GitHub repo for code, model artifacts, and demo.
- Restate disclaimer: research prototype, synthetic data, not medical advice, MIT license.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428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0005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◐</a:t>
            </a:r>
            <a:endParaRPr lang="en-US" sz="1547" dirty="0"/>
          </a:p>
        </p:txBody>
      </p:sp>
      <p:sp>
        <p:nvSpPr>
          <p:cNvPr id="4" name="Text 1"/>
          <p:cNvSpPr/>
          <p:nvPr/>
        </p:nvSpPr>
        <p:spPr>
          <a:xfrm>
            <a:off x="671513" y="408980"/>
            <a:ext cx="80152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61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GLUCOTWIN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614363" y="1620292"/>
            <a:ext cx="2217411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22" kern="0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TYPE 2 DIABETES · DIGITAL TWIN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1620292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984" dirty="0"/>
          </a:p>
        </p:txBody>
      </p:sp>
      <p:sp>
        <p:nvSpPr>
          <p:cNvPr id="7" name="Text 4"/>
          <p:cNvSpPr/>
          <p:nvPr/>
        </p:nvSpPr>
        <p:spPr>
          <a:xfrm>
            <a:off x="457200" y="1877467"/>
            <a:ext cx="863600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5400" b="1" spc="-162" kern="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GlucoTwin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457200" y="2691854"/>
            <a:ext cx="7560945" cy="347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1"/>
              </a:lnSpc>
              <a:buNone/>
            </a:pPr>
            <a:r>
              <a:rPr lang="en-US" sz="1688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 Type 2 Diabetes Digital Twin</a:t>
            </a:r>
            <a:endParaRPr lang="en-US" sz="1688" dirty="0"/>
          </a:p>
        </p:txBody>
      </p:sp>
      <p:sp>
        <p:nvSpPr>
          <p:cNvPr id="9" name="Text 6"/>
          <p:cNvSpPr/>
          <p:nvPr/>
        </p:nvSpPr>
        <p:spPr>
          <a:xfrm>
            <a:off x="457200" y="3127623"/>
            <a:ext cx="5857875" cy="231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i="1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Predicting glucose spikes 2 hours before they happen — and rehearsing the fix.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457200" y="4390727"/>
            <a:ext cx="2917775" cy="1489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9"/>
              </a:lnSpc>
              <a:buNone/>
            </a:pPr>
            <a:r>
              <a:rPr lang="en-US" sz="731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Team:</a:t>
            </a:r>
            <a:pPr algn="l" indent="0" marL="0">
              <a:lnSpc>
                <a:spcPts val="1389"/>
              </a:lnSpc>
              <a:buNone/>
            </a:pPr>
            <a:r>
              <a:rPr lang="en-US" sz="731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AlgoAura · MERI College of Engineering and Technology</a:t>
            </a:r>
            <a:endParaRPr lang="en-US" sz="731" dirty="0"/>
          </a:p>
        </p:txBody>
      </p:sp>
      <p:sp>
        <p:nvSpPr>
          <p:cNvPr id="11" name="Text 8"/>
          <p:cNvSpPr/>
          <p:nvPr/>
        </p:nvSpPr>
        <p:spPr>
          <a:xfrm>
            <a:off x="457200" y="4567089"/>
            <a:ext cx="2917775" cy="208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9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Event:</a:t>
            </a:r>
            <a:pPr algn="l" indent="0" marL="0">
              <a:lnSpc>
                <a:spcPts val="1389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Happiest Health Digital Twin Challenge 2026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772708" y="4543425"/>
            <a:ext cx="2910520" cy="182166"/>
          </a:xfrm>
          <a:prstGeom prst="roundRect">
            <a:avLst>
              <a:gd name="adj" fmla="val 5223519"/>
            </a:avLst>
          </a:prstGeom>
          <a:solidFill>
            <a:srgbClr val="FFFBEB"/>
          </a:solidFill>
          <a:ln w="7144">
            <a:solidFill>
              <a:srgbClr val="FCD3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983449" y="4582716"/>
            <a:ext cx="2703351" cy="129679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12" kern="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Research prototype · Synthetic data · Not medical advice</a:t>
            </a:r>
            <a:endParaRPr lang="en-US" sz="619" dirty="0"/>
          </a:p>
        </p:txBody>
      </p:sp>
      <p:sp>
        <p:nvSpPr>
          <p:cNvPr id="14" name="Text 11"/>
          <p:cNvSpPr/>
          <p:nvPr/>
        </p:nvSpPr>
        <p:spPr>
          <a:xfrm>
            <a:off x="5847717" y="4588073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914" dirty="0"/>
          </a:p>
        </p:txBody>
      </p:sp>
      <p:sp>
        <p:nvSpPr>
          <p:cNvPr id="15" name="Text 12"/>
          <p:cNvSpPr/>
          <p:nvPr/>
        </p:nvSpPr>
        <p:spPr>
          <a:xfrm>
            <a:off x="6457950" y="2071688"/>
            <a:ext cx="2286000" cy="14288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457950" y="1771650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886575" y="1928813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7386638" y="1700213"/>
            <a:ext cx="71438" cy="71438"/>
          </a:xfrm>
          <a:prstGeom prst="roundRect">
            <a:avLst>
              <a:gd name="adj" fmla="val 13319907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7886700" y="2028825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8386763" y="2286000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6457950" y="2203847"/>
            <a:ext cx="2286000" cy="0"/>
          </a:xfrm>
          <a:prstGeom prst="line">
            <a:avLst/>
          </a:prstGeom>
          <a:noFill/>
          <a:ln w="7144">
            <a:solidFill>
              <a:srgbClr val="F59E0B"/>
            </a:solidFill>
            <a:prstDash val="dash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428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63" y="442913"/>
            <a:ext cx="1601874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22" kern="0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· THE PROBLEM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44291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984" dirty="0"/>
          </a:p>
        </p:txBody>
      </p:sp>
      <p:sp>
        <p:nvSpPr>
          <p:cNvPr id="5" name="Text 2"/>
          <p:cNvSpPr/>
          <p:nvPr/>
        </p:nvSpPr>
        <p:spPr>
          <a:xfrm>
            <a:off x="457200" y="642938"/>
            <a:ext cx="8636000" cy="35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250" b="1" spc="-23" kern="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India is the diabetes capital of the world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460772" y="1175147"/>
            <a:ext cx="2640732" cy="1421606"/>
          </a:xfrm>
          <a:prstGeom prst="roundRect">
            <a:avLst>
              <a:gd name="adj" fmla="val 9380"/>
            </a:avLst>
          </a:prstGeom>
          <a:solidFill>
            <a:srgbClr val="F0FDFA"/>
          </a:solidFill>
          <a:ln w="7144">
            <a:solidFill>
              <a:srgbClr val="CCFB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12934" y="1324523"/>
            <a:ext cx="837225" cy="212027"/>
          </a:xfrm>
          <a:prstGeom prst="roundRect">
            <a:avLst>
              <a:gd name="adj" fmla="val 4487860"/>
            </a:avLst>
          </a:prstGeom>
          <a:solidFill>
            <a:srgbClr val="F0FDFA"/>
          </a:solidFill>
          <a:ln w="7144">
            <a:solidFill>
              <a:srgbClr val="99F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42963" y="1378744"/>
            <a:ext cx="2083519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Prevalence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14375" y="138767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844" dirty="0"/>
          </a:p>
        </p:txBody>
      </p:sp>
      <p:sp>
        <p:nvSpPr>
          <p:cNvPr id="10" name="Text 7"/>
          <p:cNvSpPr/>
          <p:nvPr/>
        </p:nvSpPr>
        <p:spPr>
          <a:xfrm>
            <a:off x="635794" y="1568053"/>
            <a:ext cx="2290688" cy="529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4050" spc="-81" kern="0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101M</a:t>
            </a:r>
            <a:endParaRPr lang="en-US" sz="4050" dirty="0"/>
          </a:p>
        </p:txBody>
      </p:sp>
      <p:sp>
        <p:nvSpPr>
          <p:cNvPr id="11" name="Text 8"/>
          <p:cNvSpPr/>
          <p:nvPr/>
        </p:nvSpPr>
        <p:spPr>
          <a:xfrm>
            <a:off x="635794" y="2125266"/>
            <a:ext cx="2400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Indians living with diabetes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35794" y="2318147"/>
            <a:ext cx="229068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Source: ICMR INDIAB 2023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251522" y="1175147"/>
            <a:ext cx="2640843" cy="1421606"/>
          </a:xfrm>
          <a:prstGeom prst="roundRect">
            <a:avLst>
              <a:gd name="adj" fmla="val 9380"/>
            </a:avLst>
          </a:prstGeom>
          <a:solidFill>
            <a:srgbClr val="F0FDFA"/>
          </a:solidFill>
          <a:ln w="7144">
            <a:solidFill>
              <a:srgbClr val="CCFB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403684" y="1324523"/>
            <a:ext cx="632959" cy="212027"/>
          </a:xfrm>
          <a:prstGeom prst="roundRect">
            <a:avLst>
              <a:gd name="adj" fmla="val 4487860"/>
            </a:avLst>
          </a:prstGeom>
          <a:solidFill>
            <a:srgbClr val="F0FDFA"/>
          </a:solidFill>
          <a:ln w="7144">
            <a:solidFill>
              <a:srgbClr val="99F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3633713" y="1378744"/>
            <a:ext cx="2083631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 risk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505126" y="138767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844" dirty="0"/>
          </a:p>
        </p:txBody>
      </p:sp>
      <p:sp>
        <p:nvSpPr>
          <p:cNvPr id="17" name="Text 14"/>
          <p:cNvSpPr/>
          <p:nvPr/>
        </p:nvSpPr>
        <p:spPr>
          <a:xfrm>
            <a:off x="3426544" y="1568053"/>
            <a:ext cx="2290800" cy="529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4050" spc="-81" kern="0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136M</a:t>
            </a:r>
            <a:endParaRPr lang="en-US" sz="4050" dirty="0"/>
          </a:p>
        </p:txBody>
      </p:sp>
      <p:sp>
        <p:nvSpPr>
          <p:cNvPr id="18" name="Text 15"/>
          <p:cNvSpPr/>
          <p:nvPr/>
        </p:nvSpPr>
        <p:spPr>
          <a:xfrm>
            <a:off x="3426544" y="2125266"/>
            <a:ext cx="22908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prediabetic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426544" y="2318147"/>
            <a:ext cx="229080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Source: ICMR INDIAB 2023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042385" y="1175147"/>
            <a:ext cx="2640732" cy="1421606"/>
          </a:xfrm>
          <a:prstGeom prst="roundRect">
            <a:avLst>
              <a:gd name="adj" fmla="val 9380"/>
            </a:avLst>
          </a:prstGeom>
          <a:solidFill>
            <a:srgbClr val="FFFBEB"/>
          </a:solidFill>
          <a:ln w="7144">
            <a:solidFill>
              <a:srgbClr val="FDE68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194547" y="1324523"/>
            <a:ext cx="900738" cy="212027"/>
          </a:xfrm>
          <a:prstGeom prst="roundRect">
            <a:avLst>
              <a:gd name="adj" fmla="val 4487860"/>
            </a:avLst>
          </a:prstGeom>
          <a:solidFill>
            <a:srgbClr val="FFFBEB"/>
          </a:solidFill>
          <a:ln w="7144">
            <a:solidFill>
              <a:srgbClr val="FCD3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424575" y="1378744"/>
            <a:ext cx="2083519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Composition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295988" y="138767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◐</a:t>
            </a:r>
            <a:endParaRPr lang="en-US" sz="844" dirty="0"/>
          </a:p>
        </p:txBody>
      </p:sp>
      <p:sp>
        <p:nvSpPr>
          <p:cNvPr id="24" name="Text 21"/>
          <p:cNvSpPr/>
          <p:nvPr/>
        </p:nvSpPr>
        <p:spPr>
          <a:xfrm>
            <a:off x="6217407" y="1568053"/>
            <a:ext cx="2290688" cy="5297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4050" spc="-81" kern="0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70%+</a:t>
            </a:r>
            <a:endParaRPr lang="en-US" sz="4050" dirty="0"/>
          </a:p>
        </p:txBody>
      </p:sp>
      <p:sp>
        <p:nvSpPr>
          <p:cNvPr id="25" name="Text 22"/>
          <p:cNvSpPr/>
          <p:nvPr/>
        </p:nvSpPr>
        <p:spPr>
          <a:xfrm>
            <a:off x="6217407" y="2125266"/>
            <a:ext cx="22906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of cases are Type-2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217407" y="2318147"/>
            <a:ext cx="240041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Source: Clinical estimate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57200" y="2800350"/>
            <a:ext cx="7000875" cy="419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56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Post-meal glucose spikes drive retinopathy, nephropathy, neuropathy and cardiovascular disease. Doctors react to spikes after they happen. </a:t>
            </a:r>
            <a:pPr algn="l" indent="0" marL="0">
              <a:lnSpc>
                <a:spcPts val="1530"/>
              </a:lnSpc>
              <a:buNone/>
            </a:pPr>
            <a:r>
              <a:rPr lang="en-US" sz="956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if they could see them coming — 2 hours in advance?</a:t>
            </a:r>
            <a:endParaRPr lang="en-US" sz="956" dirty="0"/>
          </a:p>
        </p:txBody>
      </p:sp>
      <p:sp>
        <p:nvSpPr>
          <p:cNvPr id="28" name="Text 25"/>
          <p:cNvSpPr/>
          <p:nvPr/>
        </p:nvSpPr>
        <p:spPr>
          <a:xfrm>
            <a:off x="457200" y="4898827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57200" y="4868466"/>
            <a:ext cx="78841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GlucoTwin · Team AlgoAura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8353838" y="4868466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428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63" y="442913"/>
            <a:ext cx="1686529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22" kern="0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· OUR SOLUTION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44291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984" dirty="0"/>
          </a:p>
        </p:txBody>
      </p:sp>
      <p:sp>
        <p:nvSpPr>
          <p:cNvPr id="5" name="Text 2"/>
          <p:cNvSpPr/>
          <p:nvPr/>
        </p:nvSpPr>
        <p:spPr>
          <a:xfrm>
            <a:off x="457200" y="642938"/>
            <a:ext cx="8636000" cy="653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spc="-21" kern="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virtual replica of the patient that forecasts glucose spikes</a:t>
            </a:r>
            <a:endParaRPr lang="en-US" sz="2138" dirty="0"/>
          </a:p>
        </p:txBody>
      </p:sp>
      <p:sp>
        <p:nvSpPr>
          <p:cNvPr id="6" name="Text 3"/>
          <p:cNvSpPr/>
          <p:nvPr/>
        </p:nvSpPr>
        <p:spPr>
          <a:xfrm>
            <a:off x="457200" y="1324273"/>
            <a:ext cx="86360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 pillars: Fuse · Predict · Simulate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695748"/>
            <a:ext cx="2647876" cy="3047702"/>
          </a:xfrm>
          <a:prstGeom prst="roundRect">
            <a:avLst>
              <a:gd name="adj" fmla="val 503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57200" y="1699320"/>
            <a:ext cx="2647876" cy="0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01504" y="1695748"/>
            <a:ext cx="0" cy="3047702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4739878"/>
            <a:ext cx="2647876" cy="0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1488" y="1695748"/>
            <a:ext cx="0" cy="3047702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7225" y="1860054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90086" y="1892915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4" name="Text 11"/>
          <p:cNvSpPr/>
          <p:nvPr/>
        </p:nvSpPr>
        <p:spPr>
          <a:xfrm>
            <a:off x="657225" y="2288679"/>
            <a:ext cx="2269257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81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· FUSE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57225" y="2460129"/>
            <a:ext cx="2269257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Fuse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57225" y="2803029"/>
            <a:ext cx="2269257" cy="53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Static EHR (age, BMI, HbA1c, genetics) + Dynamic wearables (CGM, HR, HRV, sleep, steps).</a:t>
            </a:r>
            <a:endParaRPr lang="en-US" sz="844" dirty="0"/>
          </a:p>
        </p:txBody>
      </p:sp>
      <p:sp>
        <p:nvSpPr>
          <p:cNvPr id="17" name="Text 14"/>
          <p:cNvSpPr/>
          <p:nvPr/>
        </p:nvSpPr>
        <p:spPr>
          <a:xfrm>
            <a:off x="657225" y="3404890"/>
            <a:ext cx="325152" cy="200025"/>
          </a:xfrm>
          <a:prstGeom prst="roundRect">
            <a:avLst>
              <a:gd name="adj" fmla="val 4757143"/>
            </a:avLst>
          </a:prstGeom>
          <a:solidFill>
            <a:srgbClr val="FFFFFF"/>
          </a:solidFill>
          <a:ln w="7144">
            <a:solidFill>
              <a:srgbClr val="CBD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57225" y="3415605"/>
            <a:ext cx="32515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EHR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25240" y="3404890"/>
            <a:ext cx="343681" cy="200025"/>
          </a:xfrm>
          <a:prstGeom prst="roundRect">
            <a:avLst>
              <a:gd name="adj" fmla="val 4757143"/>
            </a:avLst>
          </a:prstGeom>
          <a:solidFill>
            <a:srgbClr val="FFFFFF"/>
          </a:solidFill>
          <a:ln w="7144">
            <a:solidFill>
              <a:srgbClr val="CBD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1025240" y="3415605"/>
            <a:ext cx="34368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CGM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411784" y="3404890"/>
            <a:ext cx="593043" cy="200025"/>
          </a:xfrm>
          <a:prstGeom prst="roundRect">
            <a:avLst>
              <a:gd name="adj" fmla="val 4757143"/>
            </a:avLst>
          </a:prstGeom>
          <a:solidFill>
            <a:srgbClr val="FFFFFF"/>
          </a:solidFill>
          <a:ln w="7144">
            <a:solidFill>
              <a:srgbClr val="CBD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1403993" y="3415605"/>
            <a:ext cx="60862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Wearables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3247951" y="1695748"/>
            <a:ext cx="2647987" cy="3047702"/>
          </a:xfrm>
          <a:prstGeom prst="roundRect">
            <a:avLst>
              <a:gd name="adj" fmla="val 503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3247951" y="1699320"/>
            <a:ext cx="2647987" cy="0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892366" y="1695748"/>
            <a:ext cx="0" cy="3047702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47951" y="4739878"/>
            <a:ext cx="2647987" cy="0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262238" y="1695748"/>
            <a:ext cx="0" cy="3047702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447976" y="1860054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3480837" y="1892915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30" name="Text 27"/>
          <p:cNvSpPr/>
          <p:nvPr/>
        </p:nvSpPr>
        <p:spPr>
          <a:xfrm>
            <a:off x="3447976" y="2288679"/>
            <a:ext cx="226936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81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· PREDICT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3447976" y="2460129"/>
            <a:ext cx="2269368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3447976" y="2803029"/>
            <a:ext cx="2269368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Spike &gt;180 mg/dL in next 120 min (GBDT, ROC-AUC 0.981).</a:t>
            </a:r>
            <a:endParaRPr lang="en-US" sz="844" dirty="0"/>
          </a:p>
        </p:txBody>
      </p:sp>
      <p:sp>
        <p:nvSpPr>
          <p:cNvPr id="33" name="Text 30"/>
          <p:cNvSpPr/>
          <p:nvPr/>
        </p:nvSpPr>
        <p:spPr>
          <a:xfrm>
            <a:off x="3447976" y="3249513"/>
            <a:ext cx="931545" cy="216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spc="-32" kern="0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0.981</a:t>
            </a:r>
            <a:endParaRPr lang="en-US" sz="1575" dirty="0"/>
          </a:p>
        </p:txBody>
      </p:sp>
      <p:sp>
        <p:nvSpPr>
          <p:cNvPr id="34" name="Text 31"/>
          <p:cNvSpPr/>
          <p:nvPr/>
        </p:nvSpPr>
        <p:spPr>
          <a:xfrm>
            <a:off x="4087341" y="3320951"/>
            <a:ext cx="16300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ROC-AUC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038813" y="1695748"/>
            <a:ext cx="2647876" cy="3047702"/>
          </a:xfrm>
          <a:prstGeom prst="roundRect">
            <a:avLst>
              <a:gd name="adj" fmla="val 503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3"/>
          <p:cNvSpPr/>
          <p:nvPr/>
        </p:nvSpPr>
        <p:spPr>
          <a:xfrm>
            <a:off x="6038813" y="1699320"/>
            <a:ext cx="2647876" cy="0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683117" y="1695748"/>
            <a:ext cx="0" cy="3047702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038813" y="4739878"/>
            <a:ext cx="2647876" cy="0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053100" y="1695748"/>
            <a:ext cx="0" cy="3047702"/>
          </a:xfrm>
          <a:prstGeom prst="line">
            <a:avLst/>
          </a:prstGeom>
          <a:noFill/>
          <a:ln w="28575">
            <a:solidFill>
              <a:srgbClr val="0D948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238838" y="1860054"/>
            <a:ext cx="314325" cy="314325"/>
          </a:xfrm>
          <a:prstGeom prst="roundRect">
            <a:avLst>
              <a:gd name="adj" fmla="val 36364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6271699" y="1892915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688" dirty="0"/>
          </a:p>
        </p:txBody>
      </p:sp>
      <p:sp>
        <p:nvSpPr>
          <p:cNvPr id="42" name="Text 39"/>
          <p:cNvSpPr/>
          <p:nvPr/>
        </p:nvSpPr>
        <p:spPr>
          <a:xfrm>
            <a:off x="6238838" y="2288679"/>
            <a:ext cx="2269257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81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· SIMULATE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238838" y="2460129"/>
            <a:ext cx="2269257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Simulate</a:t>
            </a:r>
            <a:endParaRPr lang="en-US" sz="1350" dirty="0"/>
          </a:p>
        </p:txBody>
      </p:sp>
      <p:sp>
        <p:nvSpPr>
          <p:cNvPr id="44" name="Text 41"/>
          <p:cNvSpPr/>
          <p:nvPr/>
        </p:nvSpPr>
        <p:spPr>
          <a:xfrm>
            <a:off x="6238838" y="2803029"/>
            <a:ext cx="2269257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What-if: meal, walk, sleep, medication → see the trajectory change.</a:t>
            </a:r>
            <a:endParaRPr lang="en-US" sz="844" dirty="0"/>
          </a:p>
        </p:txBody>
      </p:sp>
      <p:sp>
        <p:nvSpPr>
          <p:cNvPr id="45" name="Text 42"/>
          <p:cNvSpPr/>
          <p:nvPr/>
        </p:nvSpPr>
        <p:spPr>
          <a:xfrm>
            <a:off x="6238838" y="3238798"/>
            <a:ext cx="355178" cy="200025"/>
          </a:xfrm>
          <a:prstGeom prst="roundRect">
            <a:avLst>
              <a:gd name="adj" fmla="val 4757143"/>
            </a:avLst>
          </a:prstGeom>
          <a:solidFill>
            <a:srgbClr val="FFFFFF"/>
          </a:solidFill>
          <a:ln w="7144">
            <a:solidFill>
              <a:srgbClr val="CBD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6238838" y="3249513"/>
            <a:ext cx="35517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Meal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6636879" y="3238798"/>
            <a:ext cx="359420" cy="200025"/>
          </a:xfrm>
          <a:prstGeom prst="roundRect">
            <a:avLst>
              <a:gd name="adj" fmla="val 4757143"/>
            </a:avLst>
          </a:prstGeom>
          <a:solidFill>
            <a:srgbClr val="FFFFFF"/>
          </a:solidFill>
          <a:ln w="7144">
            <a:solidFill>
              <a:srgbClr val="CBD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6636879" y="3249513"/>
            <a:ext cx="359420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Walk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7039161" y="3238798"/>
            <a:ext cx="388330" cy="200025"/>
          </a:xfrm>
          <a:prstGeom prst="roundRect">
            <a:avLst>
              <a:gd name="adj" fmla="val 4757143"/>
            </a:avLst>
          </a:prstGeom>
          <a:solidFill>
            <a:srgbClr val="FFFFFF"/>
          </a:solidFill>
          <a:ln w="7144">
            <a:solidFill>
              <a:srgbClr val="CBD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7039161" y="3249513"/>
            <a:ext cx="388330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Sleep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7470353" y="3238798"/>
            <a:ext cx="376163" cy="200025"/>
          </a:xfrm>
          <a:prstGeom prst="roundRect">
            <a:avLst>
              <a:gd name="adj" fmla="val 4757143"/>
            </a:avLst>
          </a:prstGeom>
          <a:solidFill>
            <a:srgbClr val="FFFFFF"/>
          </a:solidFill>
          <a:ln w="7144">
            <a:solidFill>
              <a:srgbClr val="CBD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7470353" y="3249513"/>
            <a:ext cx="37616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Meds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457200" y="4898827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457200" y="4868466"/>
            <a:ext cx="78841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GlucoTwin · Team AlgoAura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8353838" y="4868466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428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63" y="442913"/>
            <a:ext cx="171704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22" kern="0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· HOW IT WORKS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44291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984" dirty="0"/>
          </a:p>
        </p:txBody>
      </p:sp>
      <p:sp>
        <p:nvSpPr>
          <p:cNvPr id="5" name="Text 2"/>
          <p:cNvSpPr/>
          <p:nvPr/>
        </p:nvSpPr>
        <p:spPr>
          <a:xfrm>
            <a:off x="457200" y="642938"/>
            <a:ext cx="8636000" cy="33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b="1" spc="-21" kern="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raw signals to a 2-hour forecast</a:t>
            </a:r>
            <a:endParaRPr lang="en-US" sz="2138" dirty="0"/>
          </a:p>
        </p:txBody>
      </p:sp>
      <p:sp>
        <p:nvSpPr>
          <p:cNvPr id="6" name="Text 3"/>
          <p:cNvSpPr/>
          <p:nvPr/>
        </p:nvSpPr>
        <p:spPr>
          <a:xfrm>
            <a:off x="460772" y="1158627"/>
            <a:ext cx="1459557" cy="3122265"/>
          </a:xfrm>
          <a:prstGeom prst="roundRect">
            <a:avLst>
              <a:gd name="adj" fmla="val 9136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78644" y="1290786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78644" y="1290786"/>
            <a:ext cx="2571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64394" y="133364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0" name="Text 7"/>
          <p:cNvSpPr/>
          <p:nvPr/>
        </p:nvSpPr>
        <p:spPr>
          <a:xfrm>
            <a:off x="578644" y="1605111"/>
            <a:ext cx="122381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Synthetic Data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8644" y="1833711"/>
            <a:ext cx="129724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200 patients, 14-day CGM + wearables (fixed seed 20260117).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952476" y="1155055"/>
            <a:ext cx="181161" cy="3129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14B8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›</a:t>
            </a:r>
            <a:endParaRPr lang="en-US" sz="1238" dirty="0"/>
          </a:p>
        </p:txBody>
      </p:sp>
      <p:sp>
        <p:nvSpPr>
          <p:cNvPr id="13" name="Text 10"/>
          <p:cNvSpPr/>
          <p:nvPr/>
        </p:nvSpPr>
        <p:spPr>
          <a:xfrm>
            <a:off x="2151497" y="1158627"/>
            <a:ext cx="1459557" cy="3122265"/>
          </a:xfrm>
          <a:prstGeom prst="roundRect">
            <a:avLst>
              <a:gd name="adj" fmla="val 9136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269368" y="1290786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269368" y="1290786"/>
            <a:ext cx="2571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555118" y="133364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7" name="Text 14"/>
          <p:cNvSpPr/>
          <p:nvPr/>
        </p:nvSpPr>
        <p:spPr>
          <a:xfrm>
            <a:off x="2269368" y="1605111"/>
            <a:ext cx="122381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Feature Fusion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269368" y="1833711"/>
            <a:ext cx="12972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33 features: 6h CGM dynamics + static EHR.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643201" y="1155055"/>
            <a:ext cx="181161" cy="3129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14B8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›</a:t>
            </a:r>
            <a:endParaRPr lang="en-US" sz="1238" dirty="0"/>
          </a:p>
        </p:txBody>
      </p:sp>
      <p:sp>
        <p:nvSpPr>
          <p:cNvPr id="20" name="Text 17"/>
          <p:cNvSpPr/>
          <p:nvPr/>
        </p:nvSpPr>
        <p:spPr>
          <a:xfrm>
            <a:off x="3842221" y="1158627"/>
            <a:ext cx="1459557" cy="3122265"/>
          </a:xfrm>
          <a:prstGeom prst="roundRect">
            <a:avLst>
              <a:gd name="adj" fmla="val 9136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960093" y="1290786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960093" y="1290786"/>
            <a:ext cx="2571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245843" y="133364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406" dirty="0"/>
          </a:p>
        </p:txBody>
      </p:sp>
      <p:sp>
        <p:nvSpPr>
          <p:cNvPr id="24" name="Text 21"/>
          <p:cNvSpPr/>
          <p:nvPr/>
        </p:nvSpPr>
        <p:spPr>
          <a:xfrm>
            <a:off x="3960093" y="1605111"/>
            <a:ext cx="122381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Train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960093" y="1833711"/>
            <a:ext cx="129724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Logistic regression + Gradient-boosted trees (patient-wise split).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333926" y="1155055"/>
            <a:ext cx="181161" cy="3129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14B8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›</a:t>
            </a:r>
            <a:endParaRPr lang="en-US" sz="1238" dirty="0"/>
          </a:p>
        </p:txBody>
      </p:sp>
      <p:sp>
        <p:nvSpPr>
          <p:cNvPr id="27" name="Text 24"/>
          <p:cNvSpPr/>
          <p:nvPr/>
        </p:nvSpPr>
        <p:spPr>
          <a:xfrm>
            <a:off x="5532946" y="1158627"/>
            <a:ext cx="1459557" cy="3122265"/>
          </a:xfrm>
          <a:prstGeom prst="roundRect">
            <a:avLst>
              <a:gd name="adj" fmla="val 9136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650818" y="1290786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650818" y="1290786"/>
            <a:ext cx="2571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936568" y="133364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406" dirty="0"/>
          </a:p>
        </p:txBody>
      </p:sp>
      <p:sp>
        <p:nvSpPr>
          <p:cNvPr id="31" name="Text 28"/>
          <p:cNvSpPr/>
          <p:nvPr/>
        </p:nvSpPr>
        <p:spPr>
          <a:xfrm>
            <a:off x="5650818" y="1605111"/>
            <a:ext cx="122381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650818" y="1833711"/>
            <a:ext cx="12972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Spike probability + glucose curve + SHAP reasons.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024650" y="1155055"/>
            <a:ext cx="181161" cy="3129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14B8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›</a:t>
            </a:r>
            <a:endParaRPr lang="en-US" sz="1238" dirty="0"/>
          </a:p>
        </p:txBody>
      </p:sp>
      <p:sp>
        <p:nvSpPr>
          <p:cNvPr id="34" name="Text 31"/>
          <p:cNvSpPr/>
          <p:nvPr/>
        </p:nvSpPr>
        <p:spPr>
          <a:xfrm>
            <a:off x="7223671" y="1158627"/>
            <a:ext cx="1459557" cy="3122265"/>
          </a:xfrm>
          <a:prstGeom prst="roundRect">
            <a:avLst>
              <a:gd name="adj" fmla="val 9136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7341543" y="1290786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7341543" y="1290786"/>
            <a:ext cx="2571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627293" y="133364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406" dirty="0"/>
          </a:p>
        </p:txBody>
      </p:sp>
      <p:sp>
        <p:nvSpPr>
          <p:cNvPr id="38" name="Text 35"/>
          <p:cNvSpPr/>
          <p:nvPr/>
        </p:nvSpPr>
        <p:spPr>
          <a:xfrm>
            <a:off x="7341543" y="1605111"/>
            <a:ext cx="122381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7341543" y="1833711"/>
            <a:ext cx="129724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Doctor dashboard + what-if simulator + live replay.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60772" y="4416623"/>
            <a:ext cx="8222456" cy="323255"/>
          </a:xfrm>
          <a:prstGeom prst="roundRect">
            <a:avLst>
              <a:gd name="adj" fmla="val 29466"/>
            </a:avLst>
          </a:prstGeom>
          <a:solidFill>
            <a:srgbClr val="F0FDFA"/>
          </a:solidFill>
          <a:ln w="7144">
            <a:solidFill>
              <a:srgbClr val="99F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592931" y="451395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42" name="Text 39"/>
          <p:cNvSpPr/>
          <p:nvPr/>
        </p:nvSpPr>
        <p:spPr>
          <a:xfrm>
            <a:off x="792956" y="4505920"/>
            <a:ext cx="7758113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Patient-wise 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70 / 15 / 15</a:t>
            </a:r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split — no leakage across train / val / test.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457200" y="4898827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457200" y="4868466"/>
            <a:ext cx="78841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GlucoTwin · Team AlgoAura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8353838" y="4868466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428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63" y="442913"/>
            <a:ext cx="2015447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22" kern="0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· DATA FOUNDATION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44291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84" dirty="0"/>
          </a:p>
        </p:txBody>
      </p:sp>
      <p:sp>
        <p:nvSpPr>
          <p:cNvPr id="5" name="Text 2"/>
          <p:cNvSpPr/>
          <p:nvPr/>
        </p:nvSpPr>
        <p:spPr>
          <a:xfrm>
            <a:off x="457200" y="642938"/>
            <a:ext cx="86360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Physiologically realistic synthetic data </a:t>
            </a:r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(DPDP-compliant)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457200" y="1110072"/>
            <a:ext cx="4526235" cy="592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real patient data is used. Our generator produces 200 virtual patients with correlated EHR fields and 14 days of 5-minute wearable signals using a physiological glucose model.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60772" y="1762162"/>
            <a:ext cx="2031616" cy="182166"/>
          </a:xfrm>
          <a:prstGeom prst="roundRect">
            <a:avLst>
              <a:gd name="adj" fmla="val 5223519"/>
            </a:avLst>
          </a:prstGeom>
          <a:solidFill>
            <a:srgbClr val="FFFBEB"/>
          </a:solidFill>
          <a:ln w="7144">
            <a:solidFill>
              <a:srgbClr val="FCD3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64369" y="1801453"/>
            <a:ext cx="1753009" cy="129679"/>
          </a:xfrm>
          <a:prstGeom prst="rect">
            <a:avLst/>
          </a:prstGeom>
          <a:noFill/>
          <a:ln/>
        </p:spPr>
        <p:txBody>
          <a:bodyPr wrap="square" lIns="71438" tIns="28575" rIns="71438" bIns="28575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12" kern="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DPDP-compliant · No real patient data</a:t>
            </a:r>
            <a:endParaRPr lang="en-US" sz="619" dirty="0"/>
          </a:p>
        </p:txBody>
      </p:sp>
      <p:sp>
        <p:nvSpPr>
          <p:cNvPr id="9" name="Text 6"/>
          <p:cNvSpPr/>
          <p:nvPr/>
        </p:nvSpPr>
        <p:spPr>
          <a:xfrm>
            <a:off x="535781" y="181038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844" dirty="0"/>
          </a:p>
        </p:txBody>
      </p:sp>
      <p:sp>
        <p:nvSpPr>
          <p:cNvPr id="10" name="Text 7"/>
          <p:cNvSpPr/>
          <p:nvPr/>
        </p:nvSpPr>
        <p:spPr>
          <a:xfrm>
            <a:off x="457200" y="2062200"/>
            <a:ext cx="513975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95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PHYSIOLOGICAL REALISM BUILT IN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57200" y="2262225"/>
            <a:ext cx="4526235" cy="1094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Meal absorption (peak 60–90 min)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Dawn phenomenon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Exercise lowers glucose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Poor sleep raises next-day glucose</a:t>
            </a:r>
            <a:endParaRPr lang="en-US" sz="900" dirty="0"/>
          </a:p>
          <a:p>
            <a:pPr algn="l" marL="342900" indent="-342900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Sensor noise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187032" y="1113644"/>
            <a:ext cx="1663824" cy="1809490"/>
          </a:xfrm>
          <a:prstGeom prst="roundRect">
            <a:avLst>
              <a:gd name="adj" fmla="val 8015"/>
            </a:avLst>
          </a:prstGeom>
          <a:solidFill>
            <a:srgbClr val="F0FDFA"/>
          </a:solidFill>
          <a:ln w="7144">
            <a:solidFill>
              <a:srgbClr val="CCFB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333479" y="126009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547" dirty="0"/>
          </a:p>
        </p:txBody>
      </p:sp>
      <p:sp>
        <p:nvSpPr>
          <p:cNvPr id="14" name="Text 11"/>
          <p:cNvSpPr/>
          <p:nvPr/>
        </p:nvSpPr>
        <p:spPr>
          <a:xfrm>
            <a:off x="5333479" y="2237333"/>
            <a:ext cx="1370930" cy="3726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925" spc="-58" kern="0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200</a:t>
            </a:r>
            <a:endParaRPr lang="en-US" sz="2925" dirty="0"/>
          </a:p>
        </p:txBody>
      </p:sp>
      <p:sp>
        <p:nvSpPr>
          <p:cNvPr id="15" name="Text 12"/>
          <p:cNvSpPr/>
          <p:nvPr/>
        </p:nvSpPr>
        <p:spPr>
          <a:xfrm>
            <a:off x="5333479" y="2637383"/>
            <a:ext cx="137093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972300" y="1113644"/>
            <a:ext cx="1663936" cy="1809490"/>
          </a:xfrm>
          <a:prstGeom prst="roundRect">
            <a:avLst>
              <a:gd name="adj" fmla="val 8014"/>
            </a:avLst>
          </a:prstGeom>
          <a:solidFill>
            <a:srgbClr val="F0FDFA"/>
          </a:solidFill>
          <a:ln w="7144">
            <a:solidFill>
              <a:srgbClr val="CCFB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118747" y="126009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18" name="Text 15"/>
          <p:cNvSpPr/>
          <p:nvPr/>
        </p:nvSpPr>
        <p:spPr>
          <a:xfrm>
            <a:off x="7118747" y="2237333"/>
            <a:ext cx="1371042" cy="3726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925" spc="-58" kern="0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806K</a:t>
            </a:r>
            <a:endParaRPr lang="en-US" sz="2925" dirty="0"/>
          </a:p>
        </p:txBody>
      </p:sp>
      <p:sp>
        <p:nvSpPr>
          <p:cNvPr id="19" name="Text 16"/>
          <p:cNvSpPr/>
          <p:nvPr/>
        </p:nvSpPr>
        <p:spPr>
          <a:xfrm>
            <a:off x="7118747" y="2637383"/>
            <a:ext cx="137104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wearable samples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187032" y="3044577"/>
            <a:ext cx="1663824" cy="1695301"/>
          </a:xfrm>
          <a:prstGeom prst="roundRect">
            <a:avLst>
              <a:gd name="adj" fmla="val 8015"/>
            </a:avLst>
          </a:prstGeom>
          <a:solidFill>
            <a:srgbClr val="F0FDFA"/>
          </a:solidFill>
          <a:ln w="7144">
            <a:solidFill>
              <a:srgbClr val="CCFB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333479" y="319102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22" name="Text 19"/>
          <p:cNvSpPr/>
          <p:nvPr/>
        </p:nvSpPr>
        <p:spPr>
          <a:xfrm>
            <a:off x="5333479" y="4168378"/>
            <a:ext cx="1370930" cy="2583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spc="-40" kern="0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 days</a:t>
            </a:r>
            <a:endParaRPr lang="en-US" sz="2025" dirty="0"/>
          </a:p>
        </p:txBody>
      </p:sp>
      <p:sp>
        <p:nvSpPr>
          <p:cNvPr id="23" name="Text 20"/>
          <p:cNvSpPr/>
          <p:nvPr/>
        </p:nvSpPr>
        <p:spPr>
          <a:xfrm>
            <a:off x="5333479" y="4454128"/>
            <a:ext cx="137093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 patient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972300" y="3044577"/>
            <a:ext cx="1663936" cy="1695301"/>
          </a:xfrm>
          <a:prstGeom prst="roundRect">
            <a:avLst>
              <a:gd name="adj" fmla="val 8014"/>
            </a:avLst>
          </a:prstGeom>
          <a:solidFill>
            <a:srgbClr val="F0FDFA"/>
          </a:solidFill>
          <a:ln w="7144">
            <a:solidFill>
              <a:srgbClr val="CCFB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7118747" y="319102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547" dirty="0"/>
          </a:p>
        </p:txBody>
      </p:sp>
      <p:sp>
        <p:nvSpPr>
          <p:cNvPr id="26" name="Text 23"/>
          <p:cNvSpPr/>
          <p:nvPr/>
        </p:nvSpPr>
        <p:spPr>
          <a:xfrm>
            <a:off x="7118747" y="4168378"/>
            <a:ext cx="1371042" cy="2583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025" spc="-40" kern="0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5-min</a:t>
            </a:r>
            <a:endParaRPr lang="en-US" sz="2025" dirty="0"/>
          </a:p>
        </p:txBody>
      </p:sp>
      <p:sp>
        <p:nvSpPr>
          <p:cNvPr id="27" name="Text 24"/>
          <p:cNvSpPr/>
          <p:nvPr/>
        </p:nvSpPr>
        <p:spPr>
          <a:xfrm>
            <a:off x="7118747" y="4454128"/>
            <a:ext cx="137104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resolution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200" y="4898827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57200" y="4868466"/>
            <a:ext cx="78841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GlucoTwin · Team AlgoAura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8353838" y="4868466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428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63" y="442913"/>
            <a:ext cx="1547419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22" kern="0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· DATA FUSION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44291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984" dirty="0"/>
          </a:p>
        </p:txBody>
      </p:sp>
      <p:sp>
        <p:nvSpPr>
          <p:cNvPr id="5" name="Text 2"/>
          <p:cNvSpPr/>
          <p:nvPr/>
        </p:nvSpPr>
        <p:spPr>
          <a:xfrm>
            <a:off x="457200" y="642938"/>
            <a:ext cx="86360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Two data streams become one digital twin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460772" y="1085069"/>
            <a:ext cx="4036219" cy="3154747"/>
          </a:xfrm>
          <a:prstGeom prst="roundRect">
            <a:avLst>
              <a:gd name="adj" fmla="val 4227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21506" y="1241115"/>
            <a:ext cx="271463" cy="271463"/>
          </a:xfrm>
          <a:prstGeom prst="roundRect">
            <a:avLst>
              <a:gd name="adj" fmla="val 42105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53653" y="1273262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406" dirty="0"/>
          </a:p>
        </p:txBody>
      </p:sp>
      <p:sp>
        <p:nvSpPr>
          <p:cNvPr id="9" name="Text 6"/>
          <p:cNvSpPr/>
          <p:nvPr/>
        </p:nvSpPr>
        <p:spPr>
          <a:xfrm>
            <a:off x="978694" y="1231516"/>
            <a:ext cx="130724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STATIC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78694" y="1349387"/>
            <a:ext cx="1091431" cy="186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1"/>
              </a:lnSpc>
              <a:buNone/>
            </a:pPr>
            <a:r>
              <a:rPr lang="en-US" sz="1238" b="1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Static EHR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621506" y="1607902"/>
            <a:ext cx="38244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Patient profile — slow-changing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21506" y="1830501"/>
            <a:ext cx="324483" cy="212027"/>
          </a:xfrm>
          <a:prstGeom prst="roundRect">
            <a:avLst>
              <a:gd name="adj" fmla="val 4487860"/>
            </a:avLst>
          </a:prstGeom>
          <a:solidFill>
            <a:srgbClr val="F0FDFA"/>
          </a:solidFill>
          <a:ln w="7144">
            <a:solidFill>
              <a:srgbClr val="99F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21506" y="1841860"/>
            <a:ext cx="32448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988851" y="1830501"/>
            <a:ext cx="312651" cy="212027"/>
          </a:xfrm>
          <a:prstGeom prst="roundRect">
            <a:avLst>
              <a:gd name="adj" fmla="val 4487860"/>
            </a:avLst>
          </a:prstGeom>
          <a:solidFill>
            <a:srgbClr val="F0FDFA"/>
          </a:solidFill>
          <a:ln w="7144">
            <a:solidFill>
              <a:srgbClr val="99F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988851" y="1841860"/>
            <a:ext cx="31265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sex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344364" y="1830501"/>
            <a:ext cx="329282" cy="212027"/>
          </a:xfrm>
          <a:prstGeom prst="roundRect">
            <a:avLst>
              <a:gd name="adj" fmla="val 4487860"/>
            </a:avLst>
          </a:prstGeom>
          <a:solidFill>
            <a:srgbClr val="F0FDFA"/>
          </a:solidFill>
          <a:ln w="7144">
            <a:solidFill>
              <a:srgbClr val="99F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344364" y="1841860"/>
            <a:ext cx="32928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BMI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716509" y="1830501"/>
            <a:ext cx="449163" cy="212027"/>
          </a:xfrm>
          <a:prstGeom prst="roundRect">
            <a:avLst>
              <a:gd name="adj" fmla="val 4487860"/>
            </a:avLst>
          </a:prstGeom>
          <a:solidFill>
            <a:srgbClr val="F0FDFA"/>
          </a:solidFill>
          <a:ln w="7144">
            <a:solidFill>
              <a:srgbClr val="99F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1716509" y="1841860"/>
            <a:ext cx="44916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HbA1c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208535" y="1830501"/>
            <a:ext cx="1140433" cy="212027"/>
          </a:xfrm>
          <a:prstGeom prst="roundRect">
            <a:avLst>
              <a:gd name="adj" fmla="val 4487860"/>
            </a:avLst>
          </a:prstGeom>
          <a:solidFill>
            <a:srgbClr val="F0FDFA"/>
          </a:solidFill>
          <a:ln w="7144">
            <a:solidFill>
              <a:srgbClr val="99F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208535" y="1841860"/>
            <a:ext cx="114043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years since diagnosis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391830" y="1830501"/>
            <a:ext cx="665373" cy="212027"/>
          </a:xfrm>
          <a:prstGeom prst="roundRect">
            <a:avLst>
              <a:gd name="adj" fmla="val 4487860"/>
            </a:avLst>
          </a:prstGeom>
          <a:solidFill>
            <a:srgbClr val="F0FDFA"/>
          </a:solidFill>
          <a:ln w="7144">
            <a:solidFill>
              <a:srgbClr val="99F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3391830" y="1841860"/>
            <a:ext cx="66537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medication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21506" y="2062673"/>
            <a:ext cx="762037" cy="212027"/>
          </a:xfrm>
          <a:prstGeom prst="roundRect">
            <a:avLst>
              <a:gd name="adj" fmla="val 4487860"/>
            </a:avLst>
          </a:prstGeom>
          <a:solidFill>
            <a:srgbClr val="F0FDFA"/>
          </a:solidFill>
          <a:ln w="7144">
            <a:solidFill>
              <a:srgbClr val="99F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10694" y="2074032"/>
            <a:ext cx="78366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hypertension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426406" y="2062673"/>
            <a:ext cx="791952" cy="212027"/>
          </a:xfrm>
          <a:prstGeom prst="roundRect">
            <a:avLst>
              <a:gd name="adj" fmla="val 4487860"/>
            </a:avLst>
          </a:prstGeom>
          <a:solidFill>
            <a:srgbClr val="F0FDFA"/>
          </a:solidFill>
          <a:ln w="7144">
            <a:solidFill>
              <a:srgbClr val="99F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1426406" y="2074032"/>
            <a:ext cx="79195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family history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261220" y="2062673"/>
            <a:ext cx="974229" cy="212027"/>
          </a:xfrm>
          <a:prstGeom prst="roundRect">
            <a:avLst>
              <a:gd name="adj" fmla="val 4487860"/>
            </a:avLst>
          </a:prstGeom>
          <a:solidFill>
            <a:srgbClr val="F0FDFA"/>
          </a:solidFill>
          <a:ln w="7144">
            <a:solidFill>
              <a:srgbClr val="99F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2261220" y="2074032"/>
            <a:ext cx="97422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genetic risk score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278312" y="2062673"/>
            <a:ext cx="858589" cy="212027"/>
          </a:xfrm>
          <a:prstGeom prst="roundRect">
            <a:avLst>
              <a:gd name="adj" fmla="val 4487860"/>
            </a:avLst>
          </a:prstGeom>
          <a:solidFill>
            <a:srgbClr val="F0FDFA"/>
          </a:solidFill>
          <a:ln w="7144">
            <a:solidFill>
              <a:srgbClr val="99F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3278312" y="2074032"/>
            <a:ext cx="85858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fasting glucose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05687" y="2294845"/>
            <a:ext cx="427111" cy="212027"/>
          </a:xfrm>
          <a:prstGeom prst="roundRect">
            <a:avLst>
              <a:gd name="adj" fmla="val 4487860"/>
            </a:avLst>
          </a:prstGeom>
          <a:solidFill>
            <a:srgbClr val="F0FDFA"/>
          </a:solidFill>
          <a:ln w="7144">
            <a:solidFill>
              <a:srgbClr val="99F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21506" y="2306203"/>
            <a:ext cx="39547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eGFR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4647009" y="1085069"/>
            <a:ext cx="4036219" cy="3154747"/>
          </a:xfrm>
          <a:prstGeom prst="roundRect">
            <a:avLst>
              <a:gd name="adj" fmla="val 4227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807744" y="1233301"/>
            <a:ext cx="271463" cy="271463"/>
          </a:xfrm>
          <a:prstGeom prst="roundRect">
            <a:avLst>
              <a:gd name="adj" fmla="val 42105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4839891" y="1265448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37" name="Text 34"/>
          <p:cNvSpPr/>
          <p:nvPr/>
        </p:nvSpPr>
        <p:spPr>
          <a:xfrm>
            <a:off x="5164931" y="1231516"/>
            <a:ext cx="335756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DYNAMIC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164931" y="1349387"/>
            <a:ext cx="2845119" cy="16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125" b="1" dirty="0">
                <a:solidFill>
                  <a:srgbClr val="1F29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Dynamic Wearables (6h window)</a:t>
            </a:r>
            <a:endParaRPr lang="en-US" sz="1125" dirty="0"/>
          </a:p>
        </p:txBody>
      </p:sp>
      <p:sp>
        <p:nvSpPr>
          <p:cNvPr id="39" name="Text 36"/>
          <p:cNvSpPr/>
          <p:nvPr/>
        </p:nvSpPr>
        <p:spPr>
          <a:xfrm>
            <a:off x="4807744" y="1592275"/>
            <a:ext cx="38244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Real-time signals — fast-changing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807744" y="1814874"/>
            <a:ext cx="874775" cy="212027"/>
          </a:xfrm>
          <a:prstGeom prst="roundRect">
            <a:avLst>
              <a:gd name="adj" fmla="val 4487860"/>
            </a:avLst>
          </a:prstGeom>
          <a:solidFill>
            <a:srgbClr val="FFFBEB"/>
          </a:solidFill>
          <a:ln w="7144">
            <a:solidFill>
              <a:srgbClr val="FCD3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4807744" y="1826233"/>
            <a:ext cx="8747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current glucose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728953" y="1829805"/>
            <a:ext cx="1449288" cy="182166"/>
          </a:xfrm>
          <a:prstGeom prst="roundRect">
            <a:avLst>
              <a:gd name="adj" fmla="val 5223519"/>
            </a:avLst>
          </a:prstGeom>
          <a:solidFill>
            <a:srgbClr val="FFFBEB"/>
          </a:solidFill>
          <a:ln w="7144">
            <a:solidFill>
              <a:srgbClr val="FCD3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5725381" y="1826233"/>
            <a:ext cx="1456432" cy="264345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12" kern="0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15/30/60-min rate of change</a:t>
            </a:r>
            <a:endParaRPr lang="en-US" sz="619" dirty="0"/>
          </a:p>
        </p:txBody>
      </p:sp>
      <p:sp>
        <p:nvSpPr>
          <p:cNvPr id="44" name="Text 41"/>
          <p:cNvSpPr/>
          <p:nvPr/>
        </p:nvSpPr>
        <p:spPr>
          <a:xfrm>
            <a:off x="4807744" y="2047046"/>
            <a:ext cx="1329184" cy="212027"/>
          </a:xfrm>
          <a:prstGeom prst="roundRect">
            <a:avLst>
              <a:gd name="adj" fmla="val 4487860"/>
            </a:avLst>
          </a:prstGeom>
          <a:solidFill>
            <a:srgbClr val="FFFBEB"/>
          </a:solidFill>
          <a:ln w="7144">
            <a:solidFill>
              <a:srgbClr val="FCD3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4807744" y="2058405"/>
            <a:ext cx="132918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rolling mean/std/min/max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6179790" y="2047046"/>
            <a:ext cx="1079376" cy="212027"/>
          </a:xfrm>
          <a:prstGeom prst="roundRect">
            <a:avLst>
              <a:gd name="adj" fmla="val 4487860"/>
            </a:avLst>
          </a:prstGeom>
          <a:solidFill>
            <a:srgbClr val="FFFBEB"/>
          </a:solidFill>
          <a:ln w="7144">
            <a:solidFill>
              <a:srgbClr val="FCD3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6179790" y="2058405"/>
            <a:ext cx="107937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time since last meal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7302029" y="2047046"/>
            <a:ext cx="856357" cy="212027"/>
          </a:xfrm>
          <a:prstGeom prst="roundRect">
            <a:avLst>
              <a:gd name="adj" fmla="val 4487860"/>
            </a:avLst>
          </a:prstGeom>
          <a:solidFill>
            <a:srgbClr val="FFFBEB"/>
          </a:solidFill>
          <a:ln w="7144">
            <a:solidFill>
              <a:srgbClr val="FCD3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7302029" y="2058405"/>
            <a:ext cx="85635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last meal carbs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4807744" y="2279218"/>
            <a:ext cx="731453" cy="212027"/>
          </a:xfrm>
          <a:prstGeom prst="roundRect">
            <a:avLst>
              <a:gd name="adj" fmla="val 4487860"/>
            </a:avLst>
          </a:prstGeom>
          <a:solidFill>
            <a:srgbClr val="FFFBEB"/>
          </a:solidFill>
          <a:ln w="7144">
            <a:solidFill>
              <a:srgbClr val="FCD3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4764855" y="2290576"/>
            <a:ext cx="81723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rolling steps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5582059" y="2279218"/>
            <a:ext cx="286643" cy="212027"/>
          </a:xfrm>
          <a:prstGeom prst="roundRect">
            <a:avLst>
              <a:gd name="adj" fmla="val 4487860"/>
            </a:avLst>
          </a:prstGeom>
          <a:solidFill>
            <a:srgbClr val="FFFBEB"/>
          </a:solidFill>
          <a:ln w="7144">
            <a:solidFill>
              <a:srgbClr val="FCD3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5582059" y="2290576"/>
            <a:ext cx="28664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HR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5911565" y="2279218"/>
            <a:ext cx="349039" cy="212027"/>
          </a:xfrm>
          <a:prstGeom prst="roundRect">
            <a:avLst>
              <a:gd name="adj" fmla="val 4487860"/>
            </a:avLst>
          </a:prstGeom>
          <a:solidFill>
            <a:srgbClr val="FFFBEB"/>
          </a:solidFill>
          <a:ln w="7144">
            <a:solidFill>
              <a:srgbClr val="FCD3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5911565" y="2290576"/>
            <a:ext cx="34903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HRV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6303466" y="2279218"/>
            <a:ext cx="689818" cy="212027"/>
          </a:xfrm>
          <a:prstGeom prst="roundRect">
            <a:avLst>
              <a:gd name="adj" fmla="val 4487860"/>
            </a:avLst>
          </a:prstGeom>
          <a:solidFill>
            <a:srgbClr val="FFFBEB"/>
          </a:solidFill>
          <a:ln w="7144">
            <a:solidFill>
              <a:srgbClr val="FCD3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4"/>
          <p:cNvSpPr/>
          <p:nvPr/>
        </p:nvSpPr>
        <p:spPr>
          <a:xfrm>
            <a:off x="6302102" y="2290576"/>
            <a:ext cx="69254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sleep hours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7036147" y="2279218"/>
            <a:ext cx="491803" cy="212027"/>
          </a:xfrm>
          <a:prstGeom prst="roundRect">
            <a:avLst>
              <a:gd name="adj" fmla="val 4487860"/>
            </a:avLst>
          </a:prstGeom>
          <a:solidFill>
            <a:srgbClr val="FFFBEB"/>
          </a:solidFill>
          <a:ln w="7144">
            <a:solidFill>
              <a:srgbClr val="FCD3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6"/>
          <p:cNvSpPr/>
          <p:nvPr/>
        </p:nvSpPr>
        <p:spPr>
          <a:xfrm>
            <a:off x="7036147" y="2290576"/>
            <a:ext cx="491803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%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7570812" y="2279218"/>
            <a:ext cx="680107" cy="212027"/>
          </a:xfrm>
          <a:prstGeom prst="roundRect">
            <a:avLst>
              <a:gd name="adj" fmla="val 4487860"/>
            </a:avLst>
          </a:prstGeom>
          <a:solidFill>
            <a:srgbClr val="FFFBEB"/>
          </a:solidFill>
          <a:ln w="7144">
            <a:solidFill>
              <a:srgbClr val="FCD3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8"/>
          <p:cNvSpPr/>
          <p:nvPr/>
        </p:nvSpPr>
        <p:spPr>
          <a:xfrm>
            <a:off x="7570812" y="2290576"/>
            <a:ext cx="68010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hour of day</a:t>
            </a:r>
            <a:endParaRPr lang="en-US" sz="800" dirty="0"/>
          </a:p>
        </p:txBody>
      </p:sp>
      <p:pic>
        <p:nvPicPr>
          <p:cNvPr id="6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71975"/>
            <a:ext cx="8229600" cy="371475"/>
          </a:xfrm>
          <a:prstGeom prst="rect">
            <a:avLst/>
          </a:prstGeom>
        </p:spPr>
      </p:pic>
      <p:sp>
        <p:nvSpPr>
          <p:cNvPr id="63" name="Text 59"/>
          <p:cNvSpPr/>
          <p:nvPr/>
        </p:nvSpPr>
        <p:spPr>
          <a:xfrm>
            <a:off x="2409676" y="44934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66" dirty="0"/>
          </a:p>
        </p:txBody>
      </p:sp>
      <p:sp>
        <p:nvSpPr>
          <p:cNvPr id="64" name="Text 60"/>
          <p:cNvSpPr/>
          <p:nvPr/>
        </p:nvSpPr>
        <p:spPr>
          <a:xfrm>
            <a:off x="2609701" y="4471988"/>
            <a:ext cx="591993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spc="9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33 fused features → patient-wise 70 / 15 / 15 split (no leakage)</a:t>
            </a:r>
            <a:endParaRPr lang="en-US" sz="900" dirty="0"/>
          </a:p>
        </p:txBody>
      </p:sp>
      <p:sp>
        <p:nvSpPr>
          <p:cNvPr id="65" name="Text 61"/>
          <p:cNvSpPr/>
          <p:nvPr/>
        </p:nvSpPr>
        <p:spPr>
          <a:xfrm>
            <a:off x="457200" y="4898827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2"/>
          <p:cNvSpPr/>
          <p:nvPr/>
        </p:nvSpPr>
        <p:spPr>
          <a:xfrm>
            <a:off x="457200" y="4868466"/>
            <a:ext cx="78841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GlucoTwin · Team AlgoAura</a:t>
            </a:r>
            <a:endParaRPr lang="en-US" sz="800" dirty="0"/>
          </a:p>
        </p:txBody>
      </p:sp>
      <p:sp>
        <p:nvSpPr>
          <p:cNvPr id="67" name="Text 63"/>
          <p:cNvSpPr/>
          <p:nvPr/>
        </p:nvSpPr>
        <p:spPr>
          <a:xfrm>
            <a:off x="8353838" y="4868466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428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63" y="442913"/>
            <a:ext cx="1386089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22" kern="0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· THE MODEL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44291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84" dirty="0"/>
          </a:p>
        </p:txBody>
      </p:sp>
      <p:sp>
        <p:nvSpPr>
          <p:cNvPr id="5" name="Text 2"/>
          <p:cNvSpPr/>
          <p:nvPr/>
        </p:nvSpPr>
        <p:spPr>
          <a:xfrm>
            <a:off x="457200" y="642938"/>
            <a:ext cx="86360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Gradient-boosted decision trees </a:t>
            </a:r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(from scratch)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457200" y="1110072"/>
            <a:ext cx="3932858" cy="789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histogram-based GBDT (80 trees, depth 4, Newton leaf updates, log loss) trained on 10,200 labeled windows. Logistic regression baseline for comparison. Tree-interpreter (Saabas) provides SHAP-style “why” explanations per prediction.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970001"/>
            <a:ext cx="50738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95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 SPEC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2158667"/>
            <a:ext cx="664815" cy="212027"/>
          </a:xfrm>
          <a:prstGeom prst="roundRect">
            <a:avLst>
              <a:gd name="adj" fmla="val 4487860"/>
            </a:avLst>
          </a:prstGeom>
          <a:solidFill>
            <a:srgbClr val="F0FDFA"/>
          </a:solidFill>
          <a:ln w="7144">
            <a:solidFill>
              <a:srgbClr val="99F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42730" y="2212888"/>
            <a:ext cx="529499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80 trees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35781" y="222181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844" dirty="0"/>
          </a:p>
        </p:txBody>
      </p:sp>
      <p:sp>
        <p:nvSpPr>
          <p:cNvPr id="11" name="Text 8"/>
          <p:cNvSpPr/>
          <p:nvPr/>
        </p:nvSpPr>
        <p:spPr>
          <a:xfrm>
            <a:off x="1179165" y="2158667"/>
            <a:ext cx="638138" cy="212027"/>
          </a:xfrm>
          <a:prstGeom prst="roundRect">
            <a:avLst>
              <a:gd name="adj" fmla="val 4487860"/>
            </a:avLst>
          </a:prstGeom>
          <a:solidFill>
            <a:srgbClr val="F0FDFA"/>
          </a:solidFill>
          <a:ln w="7144">
            <a:solidFill>
              <a:srgbClr val="99F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386334" y="2212888"/>
            <a:ext cx="459544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depth 4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257746" y="222181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44" dirty="0"/>
          </a:p>
        </p:txBody>
      </p:sp>
      <p:sp>
        <p:nvSpPr>
          <p:cNvPr id="14" name="Text 11"/>
          <p:cNvSpPr/>
          <p:nvPr/>
        </p:nvSpPr>
        <p:spPr>
          <a:xfrm>
            <a:off x="1874453" y="2158667"/>
            <a:ext cx="1075246" cy="212027"/>
          </a:xfrm>
          <a:prstGeom prst="roundRect">
            <a:avLst>
              <a:gd name="adj" fmla="val 4487860"/>
            </a:avLst>
          </a:prstGeom>
          <a:solidFill>
            <a:srgbClr val="F0FDFA"/>
          </a:solidFill>
          <a:ln w="7144">
            <a:solidFill>
              <a:srgbClr val="99F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081622" y="2212888"/>
            <a:ext cx="2308436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Newton · log loss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953034" y="2221818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844" dirty="0"/>
          </a:p>
        </p:txBody>
      </p:sp>
      <p:sp>
        <p:nvSpPr>
          <p:cNvPr id="17" name="Text 14"/>
          <p:cNvSpPr/>
          <p:nvPr/>
        </p:nvSpPr>
        <p:spPr>
          <a:xfrm>
            <a:off x="457200" y="2516498"/>
            <a:ext cx="3932858" cy="450056"/>
          </a:xfrm>
          <a:prstGeom prst="roundRect">
            <a:avLst>
              <a:gd name="adj" fmla="val 16931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67916" y="2516498"/>
            <a:ext cx="0" cy="450056"/>
          </a:xfrm>
          <a:prstGeom prst="line">
            <a:avLst/>
          </a:prstGeom>
          <a:noFill/>
          <a:ln w="21431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8644" y="260936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66" dirty="0"/>
          </a:p>
        </p:txBody>
      </p:sp>
      <p:sp>
        <p:nvSpPr>
          <p:cNvPr id="20" name="Text 17"/>
          <p:cNvSpPr/>
          <p:nvPr/>
        </p:nvSpPr>
        <p:spPr>
          <a:xfrm>
            <a:off x="764381" y="2602223"/>
            <a:ext cx="3525664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Tree-interpreter (Saabas) gives a per-prediction breakdown: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is THIS patient about to spike?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593654" y="1113644"/>
            <a:ext cx="4089574" cy="2050256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97226" y="1117216"/>
          <a:ext cx="4082430" cy="914400"/>
        </p:xfrm>
        <a:graphic>
          <a:graphicData uri="http://schemas.openxmlformats.org/drawingml/2006/table">
            <a:tbl>
              <a:tblPr/>
              <a:tblGrid>
                <a:gridCol w="1324161"/>
                <a:gridCol w="1181398"/>
                <a:gridCol w="157687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Metric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B7280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LogReg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GBDT BEST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14300" marT="114300" marB="100013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1F293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ROC-AUC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14300" marT="114300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4" dirty="0">
                          <a:solidFill>
                            <a:srgbClr val="37415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0.948</a:t>
                      </a:r>
                      <a:endParaRPr lang="en-US" sz="844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14300" marT="114300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4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0.981</a:t>
                      </a:r>
                      <a:endParaRPr lang="en-US" sz="844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14300" marT="114300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1F293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F1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14300" marT="114300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4" dirty="0">
                          <a:solidFill>
                            <a:srgbClr val="37415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0.855</a:t>
                      </a:r>
                      <a:endParaRPr lang="en-US" sz="844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14300" marT="114300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4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0.940</a:t>
                      </a:r>
                      <a:endParaRPr lang="en-US" sz="844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14300" marT="114300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1F293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Precision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14300" marT="114300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4" dirty="0">
                          <a:solidFill>
                            <a:srgbClr val="37415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0.841</a:t>
                      </a:r>
                      <a:endParaRPr lang="en-US" sz="844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14300" marT="114300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4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0.928</a:t>
                      </a:r>
                      <a:endParaRPr lang="en-US" sz="844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14300" marT="114300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1F293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Recall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14300" marT="114300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4" dirty="0">
                          <a:solidFill>
                            <a:srgbClr val="37415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0.870</a:t>
                      </a:r>
                      <a:endParaRPr lang="en-US" sz="844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14300" marT="114300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4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0.826</a:t>
                      </a:r>
                      <a:endParaRPr lang="en-US" sz="844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14300" marT="114300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4" dirty="0">
                          <a:solidFill>
                            <a:srgbClr val="1F2937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Lead time</a:t>
                      </a:r>
                      <a:endParaRPr lang="en-US" sz="844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85725" marR="114300" marT="114300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4" dirty="0">
                          <a:solidFill>
                            <a:srgbClr val="6B728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844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14300" marT="114300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4" b="1" dirty="0">
                          <a:solidFill>
                            <a:srgbClr val="D9770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75 min</a:t>
                      </a:r>
                      <a:endParaRPr lang="en-US" sz="844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5725" marR="114300" marT="114300" marB="85725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  <p:sp>
        <p:nvSpPr>
          <p:cNvPr id="23" name="Text 19"/>
          <p:cNvSpPr/>
          <p:nvPr/>
        </p:nvSpPr>
        <p:spPr>
          <a:xfrm>
            <a:off x="4590083" y="3238909"/>
            <a:ext cx="4096717" cy="164592"/>
          </a:xfrm>
          <a:prstGeom prst="rect">
            <a:avLst/>
          </a:prstGeom>
          <a:noFill/>
          <a:ln/>
        </p:spPr>
        <p:txBody>
          <a:bodyPr wrap="square" lIns="28575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10,200 labeled windows · patient-wise 70/15/15 split · threshold 180 mg/dL</a:t>
            </a:r>
            <a:endParaRPr lang="en-US" sz="675" dirty="0"/>
          </a:p>
        </p:txBody>
      </p:sp>
      <p:sp>
        <p:nvSpPr>
          <p:cNvPr id="24" name="Text 20"/>
          <p:cNvSpPr/>
          <p:nvPr/>
        </p:nvSpPr>
        <p:spPr>
          <a:xfrm>
            <a:off x="457200" y="4898827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457200" y="4868466"/>
            <a:ext cx="78841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GlucoTwin · Team AlgoAura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8353838" y="4868466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428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63" y="442913"/>
            <a:ext cx="1439449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22" kern="0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· CLINICAL UI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44291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84" dirty="0"/>
          </a:p>
        </p:txBody>
      </p:sp>
      <p:sp>
        <p:nvSpPr>
          <p:cNvPr id="5" name="Text 2"/>
          <p:cNvSpPr/>
          <p:nvPr/>
        </p:nvSpPr>
        <p:spPr>
          <a:xfrm>
            <a:off x="457200" y="642938"/>
            <a:ext cx="86360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screen. The whole virtual patient.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460772" y="1085069"/>
            <a:ext cx="4659064" cy="1766627"/>
          </a:xfrm>
          <a:prstGeom prst="roundRect">
            <a:avLst>
              <a:gd name="adj" fmla="val 7548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07219" y="1217228"/>
            <a:ext cx="257175" cy="257175"/>
          </a:xfrm>
          <a:prstGeom prst="roundRect">
            <a:avLst>
              <a:gd name="adj" fmla="val 44444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42580" y="1252590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266" dirty="0"/>
          </a:p>
        </p:txBody>
      </p:sp>
      <p:sp>
        <p:nvSpPr>
          <p:cNvPr id="9" name="Text 6"/>
          <p:cNvSpPr/>
          <p:nvPr/>
        </p:nvSpPr>
        <p:spPr>
          <a:xfrm>
            <a:off x="950119" y="1260091"/>
            <a:ext cx="4023271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Glucose + 2h Prediction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07219" y="1531553"/>
            <a:ext cx="43661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CGM history joined to forecast with 180 mg/dL threshold + confidence band.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07219" y="2036192"/>
            <a:ext cx="4366171" cy="0"/>
          </a:xfrm>
          <a:prstGeom prst="line">
            <a:avLst/>
          </a:prstGeom>
          <a:noFill/>
          <a:ln w="7144">
            <a:solidFill>
              <a:srgbClr val="F59E0B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4796903" y="1932608"/>
            <a:ext cx="1939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180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607219" y="2598093"/>
            <a:ext cx="4366171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81794" y="2512368"/>
            <a:ext cx="35719" cy="35719"/>
          </a:xfrm>
          <a:prstGeom prst="roundRect">
            <a:avLst>
              <a:gd name="adj" fmla="val 26639814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1131057" y="2469505"/>
            <a:ext cx="35719" cy="35719"/>
          </a:xfrm>
          <a:prstGeom prst="roundRect">
            <a:avLst>
              <a:gd name="adj" fmla="val 26639814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567718" y="2412355"/>
            <a:ext cx="35719" cy="35719"/>
          </a:xfrm>
          <a:prstGeom prst="roundRect">
            <a:avLst>
              <a:gd name="adj" fmla="val 26639814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004380" y="2469505"/>
            <a:ext cx="35719" cy="35719"/>
          </a:xfrm>
          <a:prstGeom prst="roundRect">
            <a:avLst>
              <a:gd name="adj" fmla="val 26639814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571973" y="2333774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50800" dir="16200000">
              <a:srgbClr val="FFFBEB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139567" y="2233761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50800" dir="16200000">
              <a:srgbClr val="FFFBEB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750804" y="2119461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50800" dir="16200000">
              <a:srgbClr val="FFFBEB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362041" y="2019449"/>
            <a:ext cx="42863" cy="42863"/>
          </a:xfrm>
          <a:prstGeom prst="roundRect">
            <a:avLst>
              <a:gd name="adj" fmla="val 22199741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50800" dir="16200000">
              <a:srgbClr val="FFFBEB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2571973" y="1894098"/>
            <a:ext cx="2226841" cy="553975"/>
          </a:xfrm>
          <a:prstGeom prst="roundRect">
            <a:avLst>
              <a:gd name="adj" fmla="val 10316"/>
            </a:avLst>
          </a:prstGeom>
          <a:solidFill>
            <a:srgbClr val="FFFBEB">
              <a:alpha val="4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775348" y="2594521"/>
            <a:ext cx="222585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now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480471" y="2594521"/>
            <a:ext cx="407480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+120 min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5241280" y="1085069"/>
            <a:ext cx="3441948" cy="1766627"/>
          </a:xfrm>
          <a:prstGeom prst="roundRect">
            <a:avLst>
              <a:gd name="adj" fmla="val 7548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387727" y="1217228"/>
            <a:ext cx="257175" cy="257175"/>
          </a:xfrm>
          <a:prstGeom prst="roundRect">
            <a:avLst>
              <a:gd name="adj" fmla="val 44444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5423089" y="1252590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8" name="Text 25"/>
          <p:cNvSpPr/>
          <p:nvPr/>
        </p:nvSpPr>
        <p:spPr>
          <a:xfrm>
            <a:off x="5730627" y="1260091"/>
            <a:ext cx="280615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Risk Gauge + SHAP Reasons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387727" y="1531553"/>
            <a:ext cx="3258782" cy="163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Spike probability % + top factors.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387727" y="1722648"/>
            <a:ext cx="63883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spc="-36" kern="0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94%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5844146" y="1836948"/>
            <a:ext cx="26926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spike risk in next 120 min</a:t>
            </a:r>
            <a:endParaRPr lang="en-US" sz="80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7727" y="2040545"/>
            <a:ext cx="3149054" cy="5715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8297800" y="2019114"/>
            <a:ext cx="100013" cy="100013"/>
          </a:xfrm>
          <a:prstGeom prst="roundRect">
            <a:avLst>
              <a:gd name="adj" fmla="val 9514238"/>
            </a:avLst>
          </a:prstGeom>
          <a:solidFill>
            <a:srgbClr val="FFFFFF"/>
          </a:solidFill>
          <a:ln w="14288">
            <a:solidFill>
              <a:srgbClr val="DC262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0"/>
          <p:cNvSpPr/>
          <p:nvPr/>
        </p:nvSpPr>
        <p:spPr>
          <a:xfrm>
            <a:off x="5387727" y="2197708"/>
            <a:ext cx="28981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Current glucose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8276749" y="2197708"/>
            <a:ext cx="2834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+0.41</a:t>
            </a:r>
            <a:endParaRPr lang="en-US" sz="619" dirty="0"/>
          </a:p>
        </p:txBody>
      </p:sp>
      <p:sp>
        <p:nvSpPr>
          <p:cNvPr id="36" name="Text 32"/>
          <p:cNvSpPr/>
          <p:nvPr/>
        </p:nvSpPr>
        <p:spPr>
          <a:xfrm>
            <a:off x="5387727" y="2344155"/>
            <a:ext cx="28981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Rate of change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8276749" y="2344155"/>
            <a:ext cx="2834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+0.22</a:t>
            </a:r>
            <a:endParaRPr lang="en-US" sz="619" dirty="0"/>
          </a:p>
        </p:txBody>
      </p:sp>
      <p:sp>
        <p:nvSpPr>
          <p:cNvPr id="38" name="Text 34"/>
          <p:cNvSpPr/>
          <p:nvPr/>
        </p:nvSpPr>
        <p:spPr>
          <a:xfrm>
            <a:off x="5387727" y="2490601"/>
            <a:ext cx="28981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Last meal carbs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8276749" y="2490601"/>
            <a:ext cx="2834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+0.18</a:t>
            </a:r>
            <a:endParaRPr lang="en-US" sz="619" dirty="0"/>
          </a:p>
        </p:txBody>
      </p:sp>
      <p:sp>
        <p:nvSpPr>
          <p:cNvPr id="40" name="Text 36"/>
          <p:cNvSpPr/>
          <p:nvPr/>
        </p:nvSpPr>
        <p:spPr>
          <a:xfrm>
            <a:off x="460772" y="2973139"/>
            <a:ext cx="4659064" cy="1766739"/>
          </a:xfrm>
          <a:prstGeom prst="roundRect">
            <a:avLst>
              <a:gd name="adj" fmla="val 7548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607219" y="3105299"/>
            <a:ext cx="257175" cy="257175"/>
          </a:xfrm>
          <a:prstGeom prst="roundRect">
            <a:avLst>
              <a:gd name="adj" fmla="val 44444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8"/>
          <p:cNvSpPr/>
          <p:nvPr/>
        </p:nvSpPr>
        <p:spPr>
          <a:xfrm>
            <a:off x="642580" y="3140660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1266" dirty="0"/>
          </a:p>
        </p:txBody>
      </p:sp>
      <p:sp>
        <p:nvSpPr>
          <p:cNvPr id="43" name="Text 39"/>
          <p:cNvSpPr/>
          <p:nvPr/>
        </p:nvSpPr>
        <p:spPr>
          <a:xfrm>
            <a:off x="950119" y="3148161"/>
            <a:ext cx="4023271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EHR + Wearable Signals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607219" y="3419624"/>
            <a:ext cx="43661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Clinical profile + HR, HRV, steps, sleep mini-charts.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1081497" y="3814874"/>
            <a:ext cx="100013" cy="667829"/>
          </a:xfrm>
          <a:prstGeom prst="roundRect">
            <a:avLst>
              <a:gd name="adj" fmla="val 28571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2"/>
          <p:cNvSpPr/>
          <p:nvPr/>
        </p:nvSpPr>
        <p:spPr>
          <a:xfrm>
            <a:off x="1066389" y="4511278"/>
            <a:ext cx="184221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HR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2187327" y="4053408"/>
            <a:ext cx="100013" cy="429295"/>
          </a:xfrm>
          <a:prstGeom prst="roundRect">
            <a:avLst>
              <a:gd name="adj" fmla="val 28571"/>
            </a:avLst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4"/>
          <p:cNvSpPr/>
          <p:nvPr/>
        </p:nvSpPr>
        <p:spPr>
          <a:xfrm>
            <a:off x="2170584" y="4511278"/>
            <a:ext cx="210928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HRV</a:t>
            </a:r>
            <a:endParaRPr lang="en-US" sz="600" dirty="0"/>
          </a:p>
        </p:txBody>
      </p:sp>
      <p:sp>
        <p:nvSpPr>
          <p:cNvPr id="49" name="Text 45"/>
          <p:cNvSpPr/>
          <p:nvPr/>
        </p:nvSpPr>
        <p:spPr>
          <a:xfrm>
            <a:off x="3293157" y="3653582"/>
            <a:ext cx="100013" cy="829121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6"/>
          <p:cNvSpPr/>
          <p:nvPr/>
        </p:nvSpPr>
        <p:spPr>
          <a:xfrm>
            <a:off x="3253197" y="4511278"/>
            <a:ext cx="284294" cy="96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Steps</a:t>
            </a:r>
            <a:endParaRPr lang="en-US" sz="600" dirty="0"/>
          </a:p>
        </p:txBody>
      </p:sp>
      <p:sp>
        <p:nvSpPr>
          <p:cNvPr id="51" name="Text 47"/>
          <p:cNvSpPr/>
          <p:nvPr/>
        </p:nvSpPr>
        <p:spPr>
          <a:xfrm>
            <a:off x="4398987" y="3910310"/>
            <a:ext cx="100013" cy="572393"/>
          </a:xfrm>
          <a:prstGeom prst="roundRect">
            <a:avLst>
              <a:gd name="adj" fmla="val 28571"/>
            </a:avLst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4359697" y="4511278"/>
            <a:ext cx="282354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Sleep</a:t>
            </a:r>
            <a:endParaRPr lang="en-US" sz="600" dirty="0"/>
          </a:p>
        </p:txBody>
      </p:sp>
      <p:sp>
        <p:nvSpPr>
          <p:cNvPr id="53" name="Text 49"/>
          <p:cNvSpPr/>
          <p:nvPr/>
        </p:nvSpPr>
        <p:spPr>
          <a:xfrm>
            <a:off x="5241280" y="2973139"/>
            <a:ext cx="3441948" cy="1766739"/>
          </a:xfrm>
          <a:prstGeom prst="roundRect">
            <a:avLst>
              <a:gd name="adj" fmla="val 7548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0"/>
          <p:cNvSpPr/>
          <p:nvPr/>
        </p:nvSpPr>
        <p:spPr>
          <a:xfrm>
            <a:off x="5387727" y="3105299"/>
            <a:ext cx="257175" cy="257175"/>
          </a:xfrm>
          <a:prstGeom prst="roundRect">
            <a:avLst>
              <a:gd name="adj" fmla="val 44444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5423089" y="3140660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266" dirty="0"/>
          </a:p>
        </p:txBody>
      </p:sp>
      <p:sp>
        <p:nvSpPr>
          <p:cNvPr id="56" name="Text 52"/>
          <p:cNvSpPr/>
          <p:nvPr/>
        </p:nvSpPr>
        <p:spPr>
          <a:xfrm>
            <a:off x="5730627" y="3148161"/>
            <a:ext cx="280615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Alert Timeline + Live Replay</a:t>
            </a:r>
            <a:endParaRPr lang="en-US" sz="900" dirty="0"/>
          </a:p>
        </p:txBody>
      </p:sp>
      <p:sp>
        <p:nvSpPr>
          <p:cNvPr id="57" name="Text 53"/>
          <p:cNvSpPr/>
          <p:nvPr/>
        </p:nvSpPr>
        <p:spPr>
          <a:xfrm>
            <a:off x="5387727" y="3419624"/>
            <a:ext cx="32587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Last 24h of predictions + SSE streaming.</a:t>
            </a:r>
            <a:endParaRPr lang="en-US" sz="800" dirty="0"/>
          </a:p>
        </p:txBody>
      </p:sp>
      <p:sp>
        <p:nvSpPr>
          <p:cNvPr id="58" name="Text 54"/>
          <p:cNvSpPr/>
          <p:nvPr/>
        </p:nvSpPr>
        <p:spPr>
          <a:xfrm>
            <a:off x="5387727" y="3782169"/>
            <a:ext cx="3149054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5"/>
          <p:cNvSpPr/>
          <p:nvPr/>
        </p:nvSpPr>
        <p:spPr>
          <a:xfrm>
            <a:off x="5614541" y="3757166"/>
            <a:ext cx="50006" cy="50006"/>
          </a:xfrm>
          <a:prstGeom prst="roundRect">
            <a:avLst>
              <a:gd name="adj" fmla="val 19028667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6"/>
          <p:cNvSpPr/>
          <p:nvPr/>
        </p:nvSpPr>
        <p:spPr>
          <a:xfrm>
            <a:off x="6055444" y="3757166"/>
            <a:ext cx="50006" cy="50006"/>
          </a:xfrm>
          <a:prstGeom prst="roundRect">
            <a:avLst>
              <a:gd name="adj" fmla="val 19028667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7"/>
          <p:cNvSpPr/>
          <p:nvPr/>
        </p:nvSpPr>
        <p:spPr>
          <a:xfrm>
            <a:off x="6552158" y="3750022"/>
            <a:ext cx="64294" cy="64294"/>
          </a:xfrm>
          <a:prstGeom prst="roundRect">
            <a:avLst>
              <a:gd name="adj" fmla="val 14799942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50800" dir="16200000">
              <a:srgbClr val="FFFBEB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8"/>
          <p:cNvSpPr/>
          <p:nvPr/>
        </p:nvSpPr>
        <p:spPr>
          <a:xfrm>
            <a:off x="7000205" y="3757166"/>
            <a:ext cx="50006" cy="50006"/>
          </a:xfrm>
          <a:prstGeom prst="roundRect">
            <a:avLst>
              <a:gd name="adj" fmla="val 19028667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59"/>
          <p:cNvSpPr/>
          <p:nvPr/>
        </p:nvSpPr>
        <p:spPr>
          <a:xfrm>
            <a:off x="7496919" y="3750022"/>
            <a:ext cx="64294" cy="64294"/>
          </a:xfrm>
          <a:prstGeom prst="roundRect">
            <a:avLst>
              <a:gd name="adj" fmla="val 14799942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50800" dir="16200000">
              <a:srgbClr val="FFFBEB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0"/>
          <p:cNvSpPr/>
          <p:nvPr/>
        </p:nvSpPr>
        <p:spPr>
          <a:xfrm>
            <a:off x="7944855" y="3757166"/>
            <a:ext cx="50006" cy="50006"/>
          </a:xfrm>
          <a:prstGeom prst="roundRect">
            <a:avLst>
              <a:gd name="adj" fmla="val 19028667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1"/>
          <p:cNvSpPr/>
          <p:nvPr/>
        </p:nvSpPr>
        <p:spPr>
          <a:xfrm>
            <a:off x="8308516" y="3742879"/>
            <a:ext cx="78581" cy="78581"/>
          </a:xfrm>
          <a:prstGeom prst="roundRect">
            <a:avLst>
              <a:gd name="adj" fmla="val 12109129"/>
            </a:avLst>
          </a:prstGeom>
          <a:solidFill>
            <a:srgbClr val="DC2626"/>
          </a:solidFill>
          <a:ln/>
          <a:effectLst>
            <a:outerShdw sx="100000" sy="100000" kx="0" ky="0" algn="bl" rotWithShape="0" blurRad="101600" dist="50800" dir="16200000">
              <a:srgbClr val="DC2626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2"/>
          <p:cNvSpPr/>
          <p:nvPr/>
        </p:nvSpPr>
        <p:spPr>
          <a:xfrm>
            <a:off x="5387727" y="3953619"/>
            <a:ext cx="149393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-24h</a:t>
            </a:r>
            <a:endParaRPr lang="en-US" sz="800" dirty="0"/>
          </a:p>
        </p:txBody>
      </p:sp>
      <p:sp>
        <p:nvSpPr>
          <p:cNvPr id="67" name="Text 63"/>
          <p:cNvSpPr/>
          <p:nvPr/>
        </p:nvSpPr>
        <p:spPr>
          <a:xfrm>
            <a:off x="6895951" y="3953619"/>
            <a:ext cx="14938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-12h</a:t>
            </a:r>
            <a:endParaRPr lang="en-US" sz="800" dirty="0"/>
          </a:p>
        </p:txBody>
      </p:sp>
      <p:sp>
        <p:nvSpPr>
          <p:cNvPr id="68" name="Text 64"/>
          <p:cNvSpPr/>
          <p:nvPr/>
        </p:nvSpPr>
        <p:spPr>
          <a:xfrm>
            <a:off x="8386953" y="3953619"/>
            <a:ext cx="16693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now</a:t>
            </a:r>
            <a:endParaRPr lang="en-US" sz="600" dirty="0"/>
          </a:p>
        </p:txBody>
      </p:sp>
      <p:sp>
        <p:nvSpPr>
          <p:cNvPr id="69" name="Text 65"/>
          <p:cNvSpPr/>
          <p:nvPr/>
        </p:nvSpPr>
        <p:spPr>
          <a:xfrm>
            <a:off x="5387727" y="4418409"/>
            <a:ext cx="607442" cy="200025"/>
          </a:xfrm>
          <a:prstGeom prst="roundRect">
            <a:avLst>
              <a:gd name="adj" fmla="val 4757143"/>
            </a:avLst>
          </a:prstGeom>
          <a:solidFill>
            <a:srgbClr val="FFFBEB"/>
          </a:solidFill>
          <a:ln w="7144">
            <a:solidFill>
              <a:srgbClr val="FCD3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6"/>
          <p:cNvSpPr/>
          <p:nvPr/>
        </p:nvSpPr>
        <p:spPr>
          <a:xfrm>
            <a:off x="5587752" y="4479131"/>
            <a:ext cx="435992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1" kern="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SSE live</a:t>
            </a:r>
            <a:endParaRPr lang="en-US" sz="600" dirty="0"/>
          </a:p>
        </p:txBody>
      </p:sp>
      <p:sp>
        <p:nvSpPr>
          <p:cNvPr id="71" name="Text 67"/>
          <p:cNvSpPr/>
          <p:nvPr/>
        </p:nvSpPr>
        <p:spPr>
          <a:xfrm>
            <a:off x="5466308" y="4479131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00" dirty="0"/>
          </a:p>
        </p:txBody>
      </p:sp>
      <p:sp>
        <p:nvSpPr>
          <p:cNvPr id="72" name="Text 68"/>
          <p:cNvSpPr/>
          <p:nvPr/>
        </p:nvSpPr>
        <p:spPr>
          <a:xfrm>
            <a:off x="6052319" y="4464844"/>
            <a:ext cx="24844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streaming replay</a:t>
            </a:r>
            <a:endParaRPr lang="en-US" sz="800" dirty="0"/>
          </a:p>
        </p:txBody>
      </p:sp>
      <p:sp>
        <p:nvSpPr>
          <p:cNvPr id="73" name="Text 69"/>
          <p:cNvSpPr/>
          <p:nvPr/>
        </p:nvSpPr>
        <p:spPr>
          <a:xfrm>
            <a:off x="457200" y="4898827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0"/>
          <p:cNvSpPr/>
          <p:nvPr/>
        </p:nvSpPr>
        <p:spPr>
          <a:xfrm>
            <a:off x="457200" y="4868466"/>
            <a:ext cx="78841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GlucoTwin · Team AlgoAura</a:t>
            </a:r>
            <a:endParaRPr lang="en-US" sz="800" dirty="0"/>
          </a:p>
        </p:txBody>
      </p:sp>
      <p:sp>
        <p:nvSpPr>
          <p:cNvPr id="75" name="Text 71"/>
          <p:cNvSpPr/>
          <p:nvPr/>
        </p:nvSpPr>
        <p:spPr>
          <a:xfrm>
            <a:off x="8353838" y="4868466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428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63" y="442913"/>
            <a:ext cx="2102044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22" kern="0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· INTERVENTION REHEARSAL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44291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984" dirty="0"/>
          </a:p>
        </p:txBody>
      </p:sp>
      <p:sp>
        <p:nvSpPr>
          <p:cNvPr id="5" name="Text 2"/>
          <p:cNvSpPr/>
          <p:nvPr/>
        </p:nvSpPr>
        <p:spPr>
          <a:xfrm>
            <a:off x="457200" y="642938"/>
            <a:ext cx="863600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0" kern="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Rehearse the intervention before it happens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457200" y="1110072"/>
            <a:ext cx="4279329" cy="789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clinician adjusts meal carbs, walking minutes, sleep hours, or medication adherence. The twin simulator runs a physiological model and returns the baseline vs simulated glucose curve and the change in spike risk.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998576"/>
            <a:ext cx="489350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95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KNOBS THE CLINICIAN CAN ADJUST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60772" y="2216460"/>
            <a:ext cx="2089658" cy="435769"/>
          </a:xfrm>
          <a:prstGeom prst="roundRect">
            <a:avLst>
              <a:gd name="adj" fmla="val 30601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64356" y="2305757"/>
            <a:ext cx="257175" cy="257175"/>
          </a:xfrm>
          <a:prstGeom prst="roundRect">
            <a:avLst>
              <a:gd name="adj" fmla="val 44444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99718" y="234111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⊕</a:t>
            </a:r>
            <a:endParaRPr lang="en-US" sz="1266" dirty="0"/>
          </a:p>
        </p:txBody>
      </p:sp>
      <p:sp>
        <p:nvSpPr>
          <p:cNvPr id="11" name="Text 8"/>
          <p:cNvSpPr/>
          <p:nvPr/>
        </p:nvSpPr>
        <p:spPr>
          <a:xfrm>
            <a:off x="907256" y="2305757"/>
            <a:ext cx="73049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Meal carbs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907256" y="2445060"/>
            <a:ext cx="73049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grams per meal</a:t>
            </a:r>
            <a:endParaRPr lang="en-US" sz="619" dirty="0"/>
          </a:p>
        </p:txBody>
      </p:sp>
      <p:sp>
        <p:nvSpPr>
          <p:cNvPr id="13" name="Text 10"/>
          <p:cNvSpPr/>
          <p:nvPr/>
        </p:nvSpPr>
        <p:spPr>
          <a:xfrm>
            <a:off x="2643299" y="2216460"/>
            <a:ext cx="2089658" cy="435769"/>
          </a:xfrm>
          <a:prstGeom prst="roundRect">
            <a:avLst>
              <a:gd name="adj" fmla="val 30601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2746883" y="2305757"/>
            <a:ext cx="257175" cy="257175"/>
          </a:xfrm>
          <a:prstGeom prst="roundRect">
            <a:avLst>
              <a:gd name="adj" fmla="val 44444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782245" y="234111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⫯</a:t>
            </a:r>
            <a:endParaRPr lang="en-US" sz="1266" dirty="0"/>
          </a:p>
        </p:txBody>
      </p:sp>
      <p:sp>
        <p:nvSpPr>
          <p:cNvPr id="16" name="Text 13"/>
          <p:cNvSpPr/>
          <p:nvPr/>
        </p:nvSpPr>
        <p:spPr>
          <a:xfrm>
            <a:off x="3089783" y="2305757"/>
            <a:ext cx="82939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Walking min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089783" y="2445060"/>
            <a:ext cx="82939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post-meal activity</a:t>
            </a:r>
            <a:endParaRPr lang="en-US" sz="619" dirty="0"/>
          </a:p>
        </p:txBody>
      </p:sp>
      <p:sp>
        <p:nvSpPr>
          <p:cNvPr id="18" name="Text 15"/>
          <p:cNvSpPr/>
          <p:nvPr/>
        </p:nvSpPr>
        <p:spPr>
          <a:xfrm>
            <a:off x="460772" y="2745098"/>
            <a:ext cx="2089658" cy="435769"/>
          </a:xfrm>
          <a:prstGeom prst="roundRect">
            <a:avLst>
              <a:gd name="adj" fmla="val 30601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64356" y="2834394"/>
            <a:ext cx="257175" cy="257175"/>
          </a:xfrm>
          <a:prstGeom prst="roundRect">
            <a:avLst>
              <a:gd name="adj" fmla="val 44444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99718" y="286975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☾</a:t>
            </a:r>
            <a:endParaRPr lang="en-US" sz="1266" dirty="0"/>
          </a:p>
        </p:txBody>
      </p:sp>
      <p:sp>
        <p:nvSpPr>
          <p:cNvPr id="21" name="Text 18"/>
          <p:cNvSpPr/>
          <p:nvPr/>
        </p:nvSpPr>
        <p:spPr>
          <a:xfrm>
            <a:off x="907256" y="2834394"/>
            <a:ext cx="727359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Sleep hours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907256" y="2973698"/>
            <a:ext cx="72735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prior night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643299" y="2745098"/>
            <a:ext cx="2089658" cy="435769"/>
          </a:xfrm>
          <a:prstGeom prst="roundRect">
            <a:avLst>
              <a:gd name="adj" fmla="val 30601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2746883" y="2834394"/>
            <a:ext cx="257175" cy="257175"/>
          </a:xfrm>
          <a:prstGeom prst="roundRect">
            <a:avLst>
              <a:gd name="adj" fmla="val 44444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2782245" y="2869756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266" dirty="0"/>
          </a:p>
        </p:txBody>
      </p:sp>
      <p:sp>
        <p:nvSpPr>
          <p:cNvPr id="26" name="Text 23"/>
          <p:cNvSpPr/>
          <p:nvPr/>
        </p:nvSpPr>
        <p:spPr>
          <a:xfrm>
            <a:off x="3089783" y="2834394"/>
            <a:ext cx="809121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Medication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3089783" y="2973698"/>
            <a:ext cx="80912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adherence toggle</a:t>
            </a:r>
            <a:endParaRPr lang="en-US" sz="619" dirty="0"/>
          </a:p>
        </p:txBody>
      </p:sp>
      <p:sp>
        <p:nvSpPr>
          <p:cNvPr id="28" name="Text 25"/>
          <p:cNvSpPr/>
          <p:nvPr/>
        </p:nvSpPr>
        <p:spPr>
          <a:xfrm>
            <a:off x="4940126" y="1113644"/>
            <a:ext cx="3696109" cy="3626234"/>
          </a:xfrm>
          <a:prstGeom prst="roundRect">
            <a:avLst>
              <a:gd name="adj" fmla="val 3677"/>
            </a:avLst>
          </a:prstGeom>
          <a:solidFill>
            <a:srgbClr val="FFFBEB"/>
          </a:solidFill>
          <a:ln w="7144">
            <a:solidFill>
              <a:srgbClr val="FDE68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5086573" y="124580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266" dirty="0"/>
          </a:p>
        </p:txBody>
      </p:sp>
      <p:sp>
        <p:nvSpPr>
          <p:cNvPr id="30" name="Text 27"/>
          <p:cNvSpPr/>
          <p:nvPr/>
        </p:nvSpPr>
        <p:spPr>
          <a:xfrm>
            <a:off x="5272311" y="1251161"/>
            <a:ext cx="32174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87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SIMULATION RESULT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086573" y="1992325"/>
            <a:ext cx="3403216" cy="0"/>
          </a:xfrm>
          <a:prstGeom prst="line">
            <a:avLst/>
          </a:prstGeom>
          <a:noFill/>
          <a:ln w="7144">
            <a:solidFill>
              <a:srgbClr val="CBD5E1"/>
            </a:solidFill>
            <a:prstDash val="dash"/>
          </a:ln>
        </p:spPr>
      </p:sp>
      <p:sp>
        <p:nvSpPr>
          <p:cNvPr id="32" name="Text 29"/>
          <p:cNvSpPr/>
          <p:nvPr/>
        </p:nvSpPr>
        <p:spPr>
          <a:xfrm>
            <a:off x="5086573" y="1545841"/>
            <a:ext cx="28575" cy="357188"/>
          </a:xfrm>
          <a:prstGeom prst="roundRect">
            <a:avLst>
              <a:gd name="adj" fmla="val 66667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5200873" y="1545841"/>
            <a:ext cx="3288916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60g meal + 20min walk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200873" y="1703003"/>
            <a:ext cx="278896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peak</a:t>
            </a:r>
            <a:pPr algn="l" indent="0" marL="0">
              <a:lnSpc>
                <a:spcPts val="1139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139"/>
              </a:lnSpc>
              <a:buNone/>
            </a:pPr>
            <a:r>
              <a:rPr lang="en-US" sz="1013" dirty="0">
                <a:solidFill>
                  <a:srgbClr val="1F29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252 mg/dL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984699" y="1728863"/>
            <a:ext cx="524516" cy="184023"/>
          </a:xfrm>
          <a:prstGeom prst="roundRect">
            <a:avLst>
              <a:gd name="adj" fmla="val 5170807"/>
            </a:avLst>
          </a:prstGeom>
          <a:solidFill>
            <a:srgbClr val="FFFBEB"/>
          </a:solidFill>
          <a:ln w="7144">
            <a:solidFill>
              <a:srgbClr val="FCD3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7986404" y="1738722"/>
            <a:ext cx="52110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99% risk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5086573" y="2528106"/>
            <a:ext cx="3403216" cy="0"/>
          </a:xfrm>
          <a:prstGeom prst="line">
            <a:avLst/>
          </a:prstGeom>
          <a:noFill/>
          <a:ln w="7144">
            <a:solidFill>
              <a:srgbClr val="CBD5E1"/>
            </a:solidFill>
            <a:prstDash val="dash"/>
          </a:ln>
        </p:spPr>
      </p:sp>
      <p:sp>
        <p:nvSpPr>
          <p:cNvPr id="38" name="Text 35"/>
          <p:cNvSpPr/>
          <p:nvPr/>
        </p:nvSpPr>
        <p:spPr>
          <a:xfrm>
            <a:off x="5086573" y="2081622"/>
            <a:ext cx="28575" cy="357188"/>
          </a:xfrm>
          <a:prstGeom prst="roundRect">
            <a:avLst>
              <a:gd name="adj" fmla="val 66667"/>
            </a:avLst>
          </a:prstGeom>
          <a:solidFill>
            <a:srgbClr val="14B8A6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5200873" y="2081622"/>
            <a:ext cx="3288916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0g meal + 20min walk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200873" y="2238784"/>
            <a:ext cx="279599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peak</a:t>
            </a:r>
            <a:pPr algn="l" indent="0" marL="0">
              <a:lnSpc>
                <a:spcPts val="1139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1139"/>
              </a:lnSpc>
              <a:buNone/>
            </a:pPr>
            <a:r>
              <a:rPr lang="en-US" sz="1013" dirty="0">
                <a:solidFill>
                  <a:srgbClr val="1F293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219 mg/dL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7992012" y="2264645"/>
            <a:ext cx="516922" cy="184023"/>
          </a:xfrm>
          <a:prstGeom prst="roundRect">
            <a:avLst>
              <a:gd name="adj" fmla="val 5170807"/>
            </a:avLst>
          </a:prstGeom>
          <a:solidFill>
            <a:srgbClr val="FFFFFF"/>
          </a:solidFill>
          <a:ln w="7144">
            <a:solidFill>
              <a:srgbClr val="CBD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7983326" y="2274503"/>
            <a:ext cx="53429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baseline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5086573" y="2631691"/>
            <a:ext cx="28575" cy="435769"/>
          </a:xfrm>
          <a:prstGeom prst="roundRect">
            <a:avLst>
              <a:gd name="adj" fmla="val 66667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5200873" y="2631691"/>
            <a:ext cx="3288916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Risk change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5200873" y="2788853"/>
            <a:ext cx="3288916" cy="300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4"/>
              </a:lnSpc>
              <a:buNone/>
            </a:pPr>
            <a:r>
              <a:rPr lang="en-US" sz="1463" b="1" dirty="0">
                <a:solidFill>
                  <a:srgbClr val="D9770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+0 pts</a:t>
            </a:r>
            <a:endParaRPr lang="en-US" sz="1463" dirty="0"/>
          </a:p>
        </p:txBody>
      </p:sp>
      <p:sp>
        <p:nvSpPr>
          <p:cNvPr id="46" name="Shape 43"/>
          <p:cNvSpPr/>
          <p:nvPr/>
        </p:nvSpPr>
        <p:spPr>
          <a:xfrm>
            <a:off x="5086573" y="4414838"/>
            <a:ext cx="3403216" cy="0"/>
          </a:xfrm>
          <a:prstGeom prst="line">
            <a:avLst/>
          </a:prstGeom>
          <a:noFill/>
          <a:ln w="7144">
            <a:solidFill>
              <a:srgbClr val="FDE68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086573" y="4411266"/>
            <a:ext cx="3403216" cy="196453"/>
          </a:xfrm>
          <a:prstGeom prst="rect">
            <a:avLst/>
          </a:prstGeom>
          <a:noFill/>
          <a:ln/>
        </p:spPr>
        <p:txBody>
          <a:bodyPr wrap="square" lIns="0" tIns="71438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Physiological model · for clinician preview only · not a treatment recommendation</a:t>
            </a:r>
            <a:endParaRPr lang="en-US" sz="619" dirty="0"/>
          </a:p>
        </p:txBody>
      </p:sp>
      <p:sp>
        <p:nvSpPr>
          <p:cNvPr id="48" name="Text 45"/>
          <p:cNvSpPr/>
          <p:nvPr/>
        </p:nvSpPr>
        <p:spPr>
          <a:xfrm>
            <a:off x="457200" y="4898827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457200" y="4868466"/>
            <a:ext cx="78841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GlucoTwin · Team AlgoAura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8353838" y="4868466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428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63" y="442913"/>
            <a:ext cx="1039176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22" kern="0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· IMPACT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44291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984" dirty="0"/>
          </a:p>
        </p:txBody>
      </p:sp>
      <p:sp>
        <p:nvSpPr>
          <p:cNvPr id="5" name="Text 2"/>
          <p:cNvSpPr/>
          <p:nvPr/>
        </p:nvSpPr>
        <p:spPr>
          <a:xfrm>
            <a:off x="457200" y="642938"/>
            <a:ext cx="8636000" cy="35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250" b="1" spc="-23" kern="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reactive to proactive diabetes care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457200" y="1028700"/>
            <a:ext cx="86360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changes when a doctor can see 2 hours ahead.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60772" y="1375172"/>
            <a:ext cx="2640732" cy="2914650"/>
          </a:xfrm>
          <a:prstGeom prst="roundRect">
            <a:avLst>
              <a:gd name="adj" fmla="val 5050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21506" y="1535906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58297" y="1572697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828" dirty="0"/>
          </a:p>
        </p:txBody>
      </p:sp>
      <p:sp>
        <p:nvSpPr>
          <p:cNvPr id="10" name="Text 7"/>
          <p:cNvSpPr/>
          <p:nvPr/>
        </p:nvSpPr>
        <p:spPr>
          <a:xfrm>
            <a:off x="2789878" y="1632347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88" dirty="0"/>
          </a:p>
        </p:txBody>
      </p:sp>
      <p:sp>
        <p:nvSpPr>
          <p:cNvPr id="11" name="Text 8"/>
          <p:cNvSpPr/>
          <p:nvPr/>
        </p:nvSpPr>
        <p:spPr>
          <a:xfrm>
            <a:off x="621506" y="1993106"/>
            <a:ext cx="2319263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Earlier warnings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621506" y="2264569"/>
            <a:ext cx="2319263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75 min average lead time lets patients act before a spike — walk, hydrate, adjust insulin.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98646" y="3939778"/>
            <a:ext cx="903416" cy="200025"/>
          </a:xfrm>
          <a:prstGeom prst="roundRect">
            <a:avLst>
              <a:gd name="adj" fmla="val 4757143"/>
            </a:avLst>
          </a:prstGeom>
          <a:solidFill>
            <a:srgbClr val="F0FDFA"/>
          </a:solidFill>
          <a:ln w="7144">
            <a:solidFill>
              <a:srgbClr val="99F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21506" y="3950494"/>
            <a:ext cx="857696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75 min lead time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251522" y="1375172"/>
            <a:ext cx="2640843" cy="2914650"/>
          </a:xfrm>
          <a:prstGeom prst="roundRect">
            <a:avLst>
              <a:gd name="adj" fmla="val 5050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412257" y="1535906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449047" y="1572697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828" dirty="0"/>
          </a:p>
        </p:txBody>
      </p:sp>
      <p:sp>
        <p:nvSpPr>
          <p:cNvPr id="18" name="Text 15"/>
          <p:cNvSpPr/>
          <p:nvPr/>
        </p:nvSpPr>
        <p:spPr>
          <a:xfrm>
            <a:off x="5580741" y="1632347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88" dirty="0"/>
          </a:p>
        </p:txBody>
      </p:sp>
      <p:sp>
        <p:nvSpPr>
          <p:cNvPr id="19" name="Text 16"/>
          <p:cNvSpPr/>
          <p:nvPr/>
        </p:nvSpPr>
        <p:spPr>
          <a:xfrm>
            <a:off x="3412257" y="1993106"/>
            <a:ext cx="2319375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Personalized plans</a:t>
            </a:r>
            <a:endParaRPr lang="en-US" sz="1125" dirty="0"/>
          </a:p>
        </p:txBody>
      </p:sp>
      <p:sp>
        <p:nvSpPr>
          <p:cNvPr id="20" name="Text 17"/>
          <p:cNvSpPr/>
          <p:nvPr/>
        </p:nvSpPr>
        <p:spPr>
          <a:xfrm>
            <a:off x="3412257" y="2264569"/>
            <a:ext cx="2319375" cy="50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What-if lets doctors tailor diet, exercise and medication per patient — no more one-size-fits-all.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389397" y="3939778"/>
            <a:ext cx="972956" cy="200025"/>
          </a:xfrm>
          <a:prstGeom prst="roundRect">
            <a:avLst>
              <a:gd name="adj" fmla="val 4757143"/>
            </a:avLst>
          </a:prstGeom>
          <a:solidFill>
            <a:srgbClr val="FFFBEB"/>
          </a:solidFill>
          <a:ln w="7144">
            <a:solidFill>
              <a:srgbClr val="FCD3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412257" y="3950494"/>
            <a:ext cx="927236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Per-patient tuning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042385" y="1375172"/>
            <a:ext cx="2640732" cy="2914650"/>
          </a:xfrm>
          <a:prstGeom prst="roundRect">
            <a:avLst>
              <a:gd name="adj" fmla="val 5050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203119" y="1535906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6239909" y="1572697"/>
            <a:ext cx="269319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28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828" dirty="0"/>
          </a:p>
        </p:txBody>
      </p:sp>
      <p:sp>
        <p:nvSpPr>
          <p:cNvPr id="26" name="Text 23"/>
          <p:cNvSpPr/>
          <p:nvPr/>
        </p:nvSpPr>
        <p:spPr>
          <a:xfrm>
            <a:off x="8371491" y="1632347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88" dirty="0"/>
          </a:p>
        </p:txBody>
      </p:sp>
      <p:sp>
        <p:nvSpPr>
          <p:cNvPr id="27" name="Text 24"/>
          <p:cNvSpPr/>
          <p:nvPr/>
        </p:nvSpPr>
        <p:spPr>
          <a:xfrm>
            <a:off x="6203119" y="1993106"/>
            <a:ext cx="2319263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Scalable screening</a:t>
            </a:r>
            <a:endParaRPr lang="en-US" sz="1125" dirty="0"/>
          </a:p>
        </p:txBody>
      </p:sp>
      <p:sp>
        <p:nvSpPr>
          <p:cNvPr id="28" name="Text 25"/>
          <p:cNvSpPr/>
          <p:nvPr/>
        </p:nvSpPr>
        <p:spPr>
          <a:xfrm>
            <a:off x="6203119" y="2264569"/>
            <a:ext cx="2319263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Wearable-first, works in tier-2/3 cities without lab access — a smartphone + CGM is enough.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180259" y="3939778"/>
            <a:ext cx="800502" cy="200025"/>
          </a:xfrm>
          <a:prstGeom prst="roundRect">
            <a:avLst>
              <a:gd name="adj" fmla="val 4757143"/>
            </a:avLst>
          </a:prstGeom>
          <a:solidFill>
            <a:srgbClr val="F0FDFA"/>
          </a:solidFill>
          <a:ln w="7144">
            <a:solidFill>
              <a:srgbClr val="99F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6203119" y="3950494"/>
            <a:ext cx="75478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Wearable-first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57200" y="4425553"/>
            <a:ext cx="8229600" cy="0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770436" y="4529138"/>
            <a:ext cx="3603017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Proactive</a:t>
            </a:r>
            <a:pPr algn="ctr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</a:t>
            </a:r>
            <a:pPr algn="ctr" indent="0" marL="0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Personal</a:t>
            </a:r>
            <a:pPr algn="ctr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· </a:t>
            </a:r>
            <a:pPr algn="ctr" indent="0" marL="0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Scalable</a:t>
            </a:r>
            <a:pPr algn="ctr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the three shifts GlucoTwin enables.</a:t>
            </a:r>
            <a:endParaRPr lang="en-US" sz="788" dirty="0"/>
          </a:p>
        </p:txBody>
      </p:sp>
      <p:sp>
        <p:nvSpPr>
          <p:cNvPr id="33" name="Text 30"/>
          <p:cNvSpPr/>
          <p:nvPr/>
        </p:nvSpPr>
        <p:spPr>
          <a:xfrm>
            <a:off x="457200" y="4898827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57200" y="4868466"/>
            <a:ext cx="78841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GlucoTwin · Team AlgoAura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8353838" y="4868466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428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363" y="442913"/>
            <a:ext cx="2247818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22" kern="0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· HONEST LIMITATIONS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44291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984" dirty="0"/>
          </a:p>
        </p:txBody>
      </p:sp>
      <p:sp>
        <p:nvSpPr>
          <p:cNvPr id="5" name="Text 2"/>
          <p:cNvSpPr/>
          <p:nvPr/>
        </p:nvSpPr>
        <p:spPr>
          <a:xfrm>
            <a:off x="457200" y="642938"/>
            <a:ext cx="8636000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2250" b="1" spc="-23" kern="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Honest limitations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457200" y="1028700"/>
            <a:ext cx="82296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prototype does not yet do — and what comes next.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37160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266" dirty="0"/>
          </a:p>
        </p:txBody>
      </p:sp>
      <p:sp>
        <p:nvSpPr>
          <p:cNvPr id="8" name="Text 5"/>
          <p:cNvSpPr/>
          <p:nvPr/>
        </p:nvSpPr>
        <p:spPr>
          <a:xfrm>
            <a:off x="642938" y="1371600"/>
            <a:ext cx="38433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95" kern="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CURRENT LIMITATIONS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1585913"/>
            <a:ext cx="4029075" cy="512564"/>
          </a:xfrm>
          <a:prstGeom prst="roundRect">
            <a:avLst>
              <a:gd name="adj" fmla="val 26016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57200" y="1589484"/>
            <a:ext cx="4029075" cy="0"/>
          </a:xfrm>
          <a:prstGeom prst="line">
            <a:avLst/>
          </a:prstGeom>
          <a:noFill/>
          <a:ln w="7144">
            <a:solidFill>
              <a:srgbClr val="CCFBF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82703" y="1585913"/>
            <a:ext cx="0" cy="512564"/>
          </a:xfrm>
          <a:prstGeom prst="line">
            <a:avLst/>
          </a:prstGeom>
          <a:noFill/>
          <a:ln w="7144">
            <a:solidFill>
              <a:srgbClr val="CCFB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094905"/>
            <a:ext cx="4029075" cy="0"/>
          </a:xfrm>
          <a:prstGeom prst="line">
            <a:avLst/>
          </a:prstGeom>
          <a:noFill/>
          <a:ln w="7144">
            <a:solidFill>
              <a:srgbClr val="CCFBF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1488" y="1585913"/>
            <a:ext cx="0" cy="512564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0075" y="170021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406" dirty="0"/>
          </a:p>
        </p:txBody>
      </p:sp>
      <p:sp>
        <p:nvSpPr>
          <p:cNvPr id="15" name="Text 12"/>
          <p:cNvSpPr/>
          <p:nvPr/>
        </p:nvSpPr>
        <p:spPr>
          <a:xfrm>
            <a:off x="828675" y="1693069"/>
            <a:ext cx="270901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Synthetic data only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28675" y="1857375"/>
            <a:ext cx="2580010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clinically validated; real-world performance will differ.</a:t>
            </a:r>
            <a:endParaRPr lang="en-US" sz="703" dirty="0"/>
          </a:p>
        </p:txBody>
      </p:sp>
      <p:sp>
        <p:nvSpPr>
          <p:cNvPr id="17" name="Text 14"/>
          <p:cNvSpPr/>
          <p:nvPr/>
        </p:nvSpPr>
        <p:spPr>
          <a:xfrm>
            <a:off x="457200" y="2184202"/>
            <a:ext cx="4029075" cy="512564"/>
          </a:xfrm>
          <a:prstGeom prst="roundRect">
            <a:avLst>
              <a:gd name="adj" fmla="val 26016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457200" y="2187773"/>
            <a:ext cx="4029075" cy="0"/>
          </a:xfrm>
          <a:prstGeom prst="line">
            <a:avLst/>
          </a:prstGeom>
          <a:noFill/>
          <a:ln w="7144">
            <a:solidFill>
              <a:srgbClr val="CCFBF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482703" y="2184202"/>
            <a:ext cx="0" cy="512564"/>
          </a:xfrm>
          <a:prstGeom prst="line">
            <a:avLst/>
          </a:prstGeom>
          <a:noFill/>
          <a:ln w="7144">
            <a:solidFill>
              <a:srgbClr val="CCFBF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2693194"/>
            <a:ext cx="4029075" cy="0"/>
          </a:xfrm>
          <a:prstGeom prst="line">
            <a:avLst/>
          </a:prstGeom>
          <a:noFill/>
          <a:ln w="7144">
            <a:solidFill>
              <a:srgbClr val="CCFBF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71488" y="2184202"/>
            <a:ext cx="0" cy="512564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0075" y="229850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406" dirty="0"/>
          </a:p>
        </p:txBody>
      </p:sp>
      <p:sp>
        <p:nvSpPr>
          <p:cNvPr id="23" name="Text 20"/>
          <p:cNvSpPr/>
          <p:nvPr/>
        </p:nvSpPr>
        <p:spPr>
          <a:xfrm>
            <a:off x="828675" y="2291358"/>
            <a:ext cx="3212980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Simplified simulator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28675" y="2455664"/>
            <a:ext cx="3059981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Physiological what-if model, not a validated glucose-kinetics engine.</a:t>
            </a:r>
            <a:endParaRPr lang="en-US" sz="703" dirty="0"/>
          </a:p>
        </p:txBody>
      </p:sp>
      <p:sp>
        <p:nvSpPr>
          <p:cNvPr id="25" name="Text 22"/>
          <p:cNvSpPr/>
          <p:nvPr/>
        </p:nvSpPr>
        <p:spPr>
          <a:xfrm>
            <a:off x="457200" y="2782491"/>
            <a:ext cx="4029075" cy="512564"/>
          </a:xfrm>
          <a:prstGeom prst="roundRect">
            <a:avLst>
              <a:gd name="adj" fmla="val 26016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57200" y="2786063"/>
            <a:ext cx="4029075" cy="0"/>
          </a:xfrm>
          <a:prstGeom prst="line">
            <a:avLst/>
          </a:prstGeom>
          <a:noFill/>
          <a:ln w="7144">
            <a:solidFill>
              <a:srgbClr val="CCFBF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482703" y="2782491"/>
            <a:ext cx="0" cy="512564"/>
          </a:xfrm>
          <a:prstGeom prst="line">
            <a:avLst/>
          </a:prstGeom>
          <a:noFill/>
          <a:ln w="7144">
            <a:solidFill>
              <a:srgbClr val="CCFBF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" y="3291483"/>
            <a:ext cx="4029075" cy="0"/>
          </a:xfrm>
          <a:prstGeom prst="line">
            <a:avLst/>
          </a:prstGeom>
          <a:noFill/>
          <a:ln w="7144">
            <a:solidFill>
              <a:srgbClr val="CCFBF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71488" y="2782491"/>
            <a:ext cx="0" cy="512564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00075" y="289679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406" dirty="0"/>
          </a:p>
        </p:txBody>
      </p:sp>
      <p:sp>
        <p:nvSpPr>
          <p:cNvPr id="31" name="Text 28"/>
          <p:cNvSpPr/>
          <p:nvPr/>
        </p:nvSpPr>
        <p:spPr>
          <a:xfrm>
            <a:off x="828675" y="2889647"/>
            <a:ext cx="3536156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Approximate SHAP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828675" y="3053953"/>
            <a:ext cx="3482243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703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Tree-interpreter (Saabas) reasons are approximations, not exact SHAP values.</a:t>
            </a:r>
            <a:endParaRPr lang="en-US" sz="703" dirty="0"/>
          </a:p>
        </p:txBody>
      </p:sp>
      <p:sp>
        <p:nvSpPr>
          <p:cNvPr id="33" name="Text 30"/>
          <p:cNvSpPr/>
          <p:nvPr/>
        </p:nvSpPr>
        <p:spPr>
          <a:xfrm>
            <a:off x="4657725" y="137160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266" dirty="0"/>
          </a:p>
        </p:txBody>
      </p:sp>
      <p:sp>
        <p:nvSpPr>
          <p:cNvPr id="34" name="Text 31"/>
          <p:cNvSpPr/>
          <p:nvPr/>
        </p:nvSpPr>
        <p:spPr>
          <a:xfrm>
            <a:off x="4843463" y="1371600"/>
            <a:ext cx="38433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95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FUTURE WORK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661297" y="1589484"/>
            <a:ext cx="4021931" cy="357188"/>
          </a:xfrm>
          <a:prstGeom prst="roundRect">
            <a:avLst>
              <a:gd name="adj" fmla="val 37333"/>
            </a:avLst>
          </a:prstGeom>
          <a:solidFill>
            <a:srgbClr val="FFFBEB"/>
          </a:solidFill>
          <a:ln w="7144">
            <a:solidFill>
              <a:srgbClr val="FDE68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4779169" y="169664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406" dirty="0"/>
          </a:p>
        </p:txBody>
      </p:sp>
      <p:sp>
        <p:nvSpPr>
          <p:cNvPr id="37" name="Text 34"/>
          <p:cNvSpPr/>
          <p:nvPr/>
        </p:nvSpPr>
        <p:spPr>
          <a:xfrm>
            <a:off x="5007769" y="1693069"/>
            <a:ext cx="355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Real anonymized data (MIMIC-IV / Synthea)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661297" y="2039541"/>
            <a:ext cx="4021931" cy="357188"/>
          </a:xfrm>
          <a:prstGeom prst="roundRect">
            <a:avLst>
              <a:gd name="adj" fmla="val 37333"/>
            </a:avLst>
          </a:prstGeom>
          <a:solidFill>
            <a:srgbClr val="FFFBEB"/>
          </a:solidFill>
          <a:ln w="7144">
            <a:solidFill>
              <a:srgbClr val="FDE68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4779169" y="214669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406" dirty="0"/>
          </a:p>
        </p:txBody>
      </p:sp>
      <p:sp>
        <p:nvSpPr>
          <p:cNvPr id="40" name="Text 37"/>
          <p:cNvSpPr/>
          <p:nvPr/>
        </p:nvSpPr>
        <p:spPr>
          <a:xfrm>
            <a:off x="5007769" y="2143125"/>
            <a:ext cx="355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LSTM sequence model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661297" y="2489597"/>
            <a:ext cx="4021931" cy="357188"/>
          </a:xfrm>
          <a:prstGeom prst="roundRect">
            <a:avLst>
              <a:gd name="adj" fmla="val 37333"/>
            </a:avLst>
          </a:prstGeom>
          <a:solidFill>
            <a:srgbClr val="FFFBEB"/>
          </a:solidFill>
          <a:ln w="7144">
            <a:solidFill>
              <a:srgbClr val="FDE68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4779169" y="259675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406" dirty="0"/>
          </a:p>
        </p:txBody>
      </p:sp>
      <p:sp>
        <p:nvSpPr>
          <p:cNvPr id="43" name="Text 40"/>
          <p:cNvSpPr/>
          <p:nvPr/>
        </p:nvSpPr>
        <p:spPr>
          <a:xfrm>
            <a:off x="5007769" y="2593181"/>
            <a:ext cx="355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Insulin-bolus simulation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4661297" y="2939653"/>
            <a:ext cx="4021931" cy="357188"/>
          </a:xfrm>
          <a:prstGeom prst="roundRect">
            <a:avLst>
              <a:gd name="adj" fmla="val 37333"/>
            </a:avLst>
          </a:prstGeom>
          <a:solidFill>
            <a:srgbClr val="FFFBEB"/>
          </a:solidFill>
          <a:ln w="7144">
            <a:solidFill>
              <a:srgbClr val="FDE68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4779169" y="304680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406" dirty="0"/>
          </a:p>
        </p:txBody>
      </p:sp>
      <p:sp>
        <p:nvSpPr>
          <p:cNvPr id="46" name="Text 43"/>
          <p:cNvSpPr/>
          <p:nvPr/>
        </p:nvSpPr>
        <p:spPr>
          <a:xfrm>
            <a:off x="5007769" y="3043238"/>
            <a:ext cx="35575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Multi-condition twins (hypertension, CVD)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457200" y="4898827"/>
            <a:ext cx="57150" cy="57150"/>
          </a:xfrm>
          <a:prstGeom prst="roundRect">
            <a:avLst>
              <a:gd name="adj" fmla="val 166500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457200" y="4868466"/>
            <a:ext cx="78841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GlucoTwin · Team AlgoAura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8353838" y="4868466"/>
            <a:ext cx="4539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428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01038" y="4486275"/>
            <a:ext cx="2571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531" dirty="0">
                <a:solidFill>
                  <a:srgbClr val="0D948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◐</a:t>
            </a:r>
            <a:endParaRPr lang="en-US" sz="2531" dirty="0"/>
          </a:p>
        </p:txBody>
      </p:sp>
      <p:sp>
        <p:nvSpPr>
          <p:cNvPr id="4" name="Text 1"/>
          <p:cNvSpPr/>
          <p:nvPr/>
        </p:nvSpPr>
        <p:spPr>
          <a:xfrm>
            <a:off x="8615363" y="4579144"/>
            <a:ext cx="71438" cy="71438"/>
          </a:xfrm>
          <a:prstGeom prst="roundRect">
            <a:avLst>
              <a:gd name="adj" fmla="val 13319907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50800" dir="16200000">
              <a:srgbClr val="F59E0B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092860" y="1186644"/>
            <a:ext cx="1115220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122" kern="0" dirty="0">
                <a:solidFill>
                  <a:srgbClr val="0F766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THANK YOU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140808" y="1186644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♥</a:t>
            </a:r>
            <a:endParaRPr lang="en-US" sz="984" dirty="0"/>
          </a:p>
        </p:txBody>
      </p:sp>
      <p:sp>
        <p:nvSpPr>
          <p:cNvPr id="7" name="Text 4"/>
          <p:cNvSpPr/>
          <p:nvPr/>
        </p:nvSpPr>
        <p:spPr>
          <a:xfrm>
            <a:off x="274320" y="1443819"/>
            <a:ext cx="8595248" cy="61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500" b="1" spc="-135" kern="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GlucoTwin</a:t>
            </a:r>
            <a:endParaRPr lang="en-US" sz="4500" dirty="0"/>
          </a:p>
        </p:txBody>
      </p:sp>
      <p:sp>
        <p:nvSpPr>
          <p:cNvPr id="8" name="Text 5"/>
          <p:cNvSpPr/>
          <p:nvPr/>
        </p:nvSpPr>
        <p:spPr>
          <a:xfrm>
            <a:off x="3293447" y="2115331"/>
            <a:ext cx="2556882" cy="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dirty="0">
                <a:solidFill>
                  <a:srgbClr val="0F766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 Type 2 Diabetes Digital Twin</a:t>
            </a:r>
            <a:endParaRPr lang="en-US" sz="1238" dirty="0"/>
          </a:p>
        </p:txBody>
      </p:sp>
      <p:sp>
        <p:nvSpPr>
          <p:cNvPr id="9" name="Text 6"/>
          <p:cNvSpPr/>
          <p:nvPr/>
        </p:nvSpPr>
        <p:spPr>
          <a:xfrm>
            <a:off x="4357576" y="2508238"/>
            <a:ext cx="428625" cy="14288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2816423" y="2679688"/>
            <a:ext cx="3510930" cy="189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Team AlgoAura · MERI College of Engineering and Technology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675986" y="2896791"/>
            <a:ext cx="3791804" cy="234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Happiest Health Digital Twin Challenge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327523" y="3288916"/>
            <a:ext cx="4488842" cy="260747"/>
          </a:xfrm>
          <a:prstGeom prst="roundRect">
            <a:avLst>
              <a:gd name="adj" fmla="val 3649313"/>
            </a:avLst>
          </a:prstGeom>
          <a:solidFill>
            <a:srgbClr val="F0FDFA"/>
          </a:solidFill>
          <a:ln w="7144">
            <a:solidFill>
              <a:srgbClr val="99F6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2445395" y="336213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0F766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4" name="Text 11"/>
          <p:cNvSpPr/>
          <p:nvPr/>
        </p:nvSpPr>
        <p:spPr>
          <a:xfrm>
            <a:off x="2616845" y="3349637"/>
            <a:ext cx="408164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github.com/Nishu15205/AlgoAura_MERI-College-of-Engineering-and-Technology</a:t>
            </a:r>
            <a:endParaRPr lang="en-US" sz="731" dirty="0"/>
          </a:p>
        </p:txBody>
      </p:sp>
      <p:sp>
        <p:nvSpPr>
          <p:cNvPr id="15" name="Text 12"/>
          <p:cNvSpPr/>
          <p:nvPr/>
        </p:nvSpPr>
        <p:spPr>
          <a:xfrm>
            <a:off x="2777691" y="3756831"/>
            <a:ext cx="3588395" cy="210741"/>
          </a:xfrm>
          <a:prstGeom prst="roundRect">
            <a:avLst>
              <a:gd name="adj" fmla="val 4515246"/>
            </a:avLst>
          </a:prstGeom>
          <a:solidFill>
            <a:srgbClr val="FFFBEB"/>
          </a:solidFill>
          <a:ln w="7144">
            <a:solidFill>
              <a:srgbClr val="FCD34D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009863" y="3810409"/>
            <a:ext cx="3252639" cy="129679"/>
          </a:xfrm>
          <a:prstGeom prst="rect">
            <a:avLst/>
          </a:prstGeom>
          <a:noFill/>
          <a:ln/>
        </p:spPr>
        <p:txBody>
          <a:bodyPr wrap="square" lIns="100013" tIns="42863" rIns="100013" bIns="42863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619" spc="12" kern="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Research prototype · Synthetic data · Not medical advice · MIT License</a:t>
            </a:r>
            <a:endParaRPr lang="en-US" sz="619" dirty="0"/>
          </a:p>
        </p:txBody>
      </p:sp>
      <p:sp>
        <p:nvSpPr>
          <p:cNvPr id="17" name="Text 14"/>
          <p:cNvSpPr/>
          <p:nvPr/>
        </p:nvSpPr>
        <p:spPr>
          <a:xfrm>
            <a:off x="2881275" y="3819339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84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2026-09-24T17:01:09Z</dcterms:created>
  <dcterms:modified xsi:type="dcterms:W3CDTF">2026-09-24T17:01:09Z</dcterms:modified>
</cp:coreProperties>
</file>